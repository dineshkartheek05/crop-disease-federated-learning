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Lst>
  <p:sldSz cx="18288000" cy="10287000"/>
  <p:notesSz cx="6858000" cy="9144000"/>
  <p:embeddedFontLst>
    <p:embeddedFont>
      <p:font typeface="TT Hoves Bold" charset="1" panose="02000003020000060003"/>
      <p:regular r:id="rId16"/>
    </p:embeddedFont>
    <p:embeddedFont>
      <p:font typeface="Inter Italics" charset="1" panose="020B0502030000000004"/>
      <p:regular r:id="rId17"/>
    </p:embeddedFont>
    <p:embeddedFont>
      <p:font typeface="Inter Bold" charset="1" panose="020B0802030000000004"/>
      <p:regular r:id="rId18"/>
    </p:embeddedFont>
    <p:embeddedFont>
      <p:font typeface="Inter" charset="1" panose="020B0502030000000004"/>
      <p:regular r:id="rId19"/>
    </p:embeddedFont>
    <p:embeddedFont>
      <p:font typeface="Inter Medium" charset="1" panose="02000503000000020004"/>
      <p:regular r:id="rId2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fonts/font16.fntdata" Type="http://schemas.openxmlformats.org/officeDocument/2006/relationships/font"/><Relationship Id="rId17" Target="fonts/font17.fntdata" Type="http://schemas.openxmlformats.org/officeDocument/2006/relationships/font"/><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p:cSld>
    <p:bg>
      <p:bgPr>
        <a:solidFill>
          <a:srgbClr val="F5F5F5"/>
        </a:solidFill>
      </p:bgPr>
    </p:bg>
    <p:spTree>
      <p:nvGrpSpPr>
        <p:cNvPr id="1" name=""/>
        <p:cNvGrpSpPr/>
        <p:nvPr/>
      </p:nvGrpSpPr>
      <p:grpSpPr>
        <a:xfrm>
          <a:off x="0" y="0"/>
          <a:ext cx="0" cy="0"/>
          <a:chOff x="0" y="0"/>
          <a:chExt cx="0" cy="0"/>
        </a:xfrm>
      </p:grpSpPr>
      <p:grpSp>
        <p:nvGrpSpPr>
          <p:cNvPr name="Group 2" id="2"/>
          <p:cNvGrpSpPr/>
          <p:nvPr/>
        </p:nvGrpSpPr>
        <p:grpSpPr>
          <a:xfrm rot="0">
            <a:off x="1178154" y="7641897"/>
            <a:ext cx="7765403" cy="1066964"/>
            <a:chOff x="0" y="0"/>
            <a:chExt cx="2045209" cy="281011"/>
          </a:xfrm>
        </p:grpSpPr>
        <p:sp>
          <p:nvSpPr>
            <p:cNvPr name="Freeform 3" id="3"/>
            <p:cNvSpPr/>
            <p:nvPr/>
          </p:nvSpPr>
          <p:spPr>
            <a:xfrm flipH="false" flipV="false" rot="0">
              <a:off x="0" y="0"/>
              <a:ext cx="2045209" cy="281011"/>
            </a:xfrm>
            <a:custGeom>
              <a:avLst/>
              <a:gdLst/>
              <a:ahLst/>
              <a:cxnLst/>
              <a:rect r="r" b="b" t="t" l="l"/>
              <a:pathLst>
                <a:path h="281011" w="2045209">
                  <a:moveTo>
                    <a:pt x="9970" y="0"/>
                  </a:moveTo>
                  <a:lnTo>
                    <a:pt x="2035239" y="0"/>
                  </a:lnTo>
                  <a:cubicBezTo>
                    <a:pt x="2037883" y="0"/>
                    <a:pt x="2040419" y="1050"/>
                    <a:pt x="2042289" y="2920"/>
                  </a:cubicBezTo>
                  <a:cubicBezTo>
                    <a:pt x="2044159" y="4790"/>
                    <a:pt x="2045209" y="7326"/>
                    <a:pt x="2045209" y="9970"/>
                  </a:cubicBezTo>
                  <a:lnTo>
                    <a:pt x="2045209" y="271041"/>
                  </a:lnTo>
                  <a:cubicBezTo>
                    <a:pt x="2045209" y="273685"/>
                    <a:pt x="2044159" y="276221"/>
                    <a:pt x="2042289" y="278091"/>
                  </a:cubicBezTo>
                  <a:cubicBezTo>
                    <a:pt x="2040419" y="279961"/>
                    <a:pt x="2037883" y="281011"/>
                    <a:pt x="2035239" y="281011"/>
                  </a:cubicBezTo>
                  <a:lnTo>
                    <a:pt x="9970" y="281011"/>
                  </a:lnTo>
                  <a:cubicBezTo>
                    <a:pt x="7326" y="281011"/>
                    <a:pt x="4790" y="279961"/>
                    <a:pt x="2920" y="278091"/>
                  </a:cubicBezTo>
                  <a:cubicBezTo>
                    <a:pt x="1050" y="276221"/>
                    <a:pt x="0" y="273685"/>
                    <a:pt x="0" y="271041"/>
                  </a:cubicBezTo>
                  <a:lnTo>
                    <a:pt x="0" y="9970"/>
                  </a:lnTo>
                  <a:cubicBezTo>
                    <a:pt x="0" y="7326"/>
                    <a:pt x="1050" y="4790"/>
                    <a:pt x="2920" y="2920"/>
                  </a:cubicBezTo>
                  <a:cubicBezTo>
                    <a:pt x="4790" y="1050"/>
                    <a:pt x="7326" y="0"/>
                    <a:pt x="9970" y="0"/>
                  </a:cubicBezTo>
                  <a:close/>
                </a:path>
              </a:pathLst>
            </a:custGeom>
            <a:solidFill>
              <a:srgbClr val="004717">
                <a:alpha val="9804"/>
              </a:srgbClr>
            </a:solidFill>
          </p:spPr>
        </p:sp>
        <p:sp>
          <p:nvSpPr>
            <p:cNvPr name="TextBox 4" id="4"/>
            <p:cNvSpPr txBox="true"/>
            <p:nvPr/>
          </p:nvSpPr>
          <p:spPr>
            <a:xfrm>
              <a:off x="0" y="-114300"/>
              <a:ext cx="2045209" cy="395311"/>
            </a:xfrm>
            <a:prstGeom prst="rect">
              <a:avLst/>
            </a:prstGeom>
          </p:spPr>
          <p:txBody>
            <a:bodyPr anchor="ctr" rtlCol="false" tIns="50800" lIns="50800" bIns="50800" rIns="50800"/>
            <a:lstStyle/>
            <a:p>
              <a:pPr algn="ctr">
                <a:lnSpc>
                  <a:spcPts val="3696"/>
                </a:lnSpc>
              </a:pPr>
            </a:p>
          </p:txBody>
        </p:sp>
      </p:grpSp>
      <p:sp>
        <p:nvSpPr>
          <p:cNvPr name="TextBox 5" id="5"/>
          <p:cNvSpPr txBox="true"/>
          <p:nvPr/>
        </p:nvSpPr>
        <p:spPr>
          <a:xfrm rot="0">
            <a:off x="1367909" y="1657904"/>
            <a:ext cx="15188603" cy="3033396"/>
          </a:xfrm>
          <a:prstGeom prst="rect">
            <a:avLst/>
          </a:prstGeom>
        </p:spPr>
        <p:txBody>
          <a:bodyPr anchor="t" rtlCol="false" tIns="0" lIns="0" bIns="0" rIns="0">
            <a:spAutoFit/>
          </a:bodyPr>
          <a:lstStyle/>
          <a:p>
            <a:pPr algn="just">
              <a:lnSpc>
                <a:spcPts val="7840"/>
              </a:lnSpc>
            </a:pPr>
            <a:r>
              <a:rPr lang="en-US" b="true" sz="8000">
                <a:solidFill>
                  <a:srgbClr val="000000"/>
                </a:solidFill>
                <a:latin typeface="TT Hoves Bold"/>
                <a:ea typeface="TT Hoves Bold"/>
                <a:cs typeface="TT Hoves Bold"/>
                <a:sym typeface="TT Hoves Bold"/>
              </a:rPr>
              <a:t>IMAGE‑BASED C</a:t>
            </a:r>
            <a:r>
              <a:rPr lang="en-US" b="true" sz="8000">
                <a:solidFill>
                  <a:srgbClr val="000000"/>
                </a:solidFill>
                <a:latin typeface="TT Hoves Bold"/>
                <a:ea typeface="TT Hoves Bold"/>
                <a:cs typeface="TT Hoves Bold"/>
                <a:sym typeface="TT Hoves Bold"/>
              </a:rPr>
              <a:t>ROP DISEASE DETECTION WITH FEDERATED LEARNING</a:t>
            </a:r>
          </a:p>
        </p:txBody>
      </p:sp>
      <p:sp>
        <p:nvSpPr>
          <p:cNvPr name="TextBox 6" id="6"/>
          <p:cNvSpPr txBox="true"/>
          <p:nvPr/>
        </p:nvSpPr>
        <p:spPr>
          <a:xfrm rot="0">
            <a:off x="1269106" y="7854140"/>
            <a:ext cx="7674451" cy="1113155"/>
          </a:xfrm>
          <a:prstGeom prst="rect">
            <a:avLst/>
          </a:prstGeom>
        </p:spPr>
        <p:txBody>
          <a:bodyPr anchor="t" rtlCol="false" tIns="0" lIns="0" bIns="0" rIns="0">
            <a:spAutoFit/>
          </a:bodyPr>
          <a:lstStyle/>
          <a:p>
            <a:pPr algn="ctr" marL="0" indent="0" lvl="0">
              <a:lnSpc>
                <a:spcPts val="2199"/>
              </a:lnSpc>
            </a:pPr>
            <a:r>
              <a:rPr lang="en-US" sz="2199" i="true">
                <a:solidFill>
                  <a:srgbClr val="000000"/>
                </a:solidFill>
                <a:latin typeface="Inter Italics"/>
                <a:ea typeface="Inter Italics"/>
                <a:cs typeface="Inter Italics"/>
                <a:sym typeface="Inter Italics"/>
              </a:rPr>
              <a:t>Summe</a:t>
            </a:r>
            <a:r>
              <a:rPr lang="en-US" sz="2199" i="true">
                <a:solidFill>
                  <a:srgbClr val="000000"/>
                </a:solidFill>
                <a:latin typeface="Inter Italics"/>
                <a:ea typeface="Inter Italics"/>
                <a:cs typeface="Inter Italics"/>
                <a:sym typeface="Inter Italics"/>
              </a:rPr>
              <a:t>r Research Internship</a:t>
            </a:r>
          </a:p>
          <a:p>
            <a:pPr algn="ctr" marL="0" indent="0" lvl="0">
              <a:lnSpc>
                <a:spcPts val="2199"/>
              </a:lnSpc>
            </a:pPr>
          </a:p>
          <a:p>
            <a:pPr algn="ctr" marL="0" indent="0" lvl="0">
              <a:lnSpc>
                <a:spcPts val="2199"/>
              </a:lnSpc>
            </a:pPr>
            <a:r>
              <a:rPr lang="en-US" sz="2199" i="true">
                <a:solidFill>
                  <a:srgbClr val="000000"/>
                </a:solidFill>
                <a:latin typeface="Inter Italics"/>
                <a:ea typeface="Inter Italics"/>
                <a:cs typeface="Inter Italics"/>
                <a:sym typeface="Inter Italics"/>
              </a:rPr>
              <a:t>Indian Institute of Technology Bhubaneswar</a:t>
            </a:r>
          </a:p>
          <a:p>
            <a:pPr algn="ctr">
              <a:lnSpc>
                <a:spcPts val="2199"/>
              </a:lnSpc>
            </a:pPr>
          </a:p>
        </p:txBody>
      </p:sp>
      <p:sp>
        <p:nvSpPr>
          <p:cNvPr name="TextBox 7" id="7"/>
          <p:cNvSpPr txBox="true"/>
          <p:nvPr/>
        </p:nvSpPr>
        <p:spPr>
          <a:xfrm rot="0">
            <a:off x="15027880" y="1183508"/>
            <a:ext cx="2231420" cy="291539"/>
          </a:xfrm>
          <a:prstGeom prst="rect">
            <a:avLst/>
          </a:prstGeom>
        </p:spPr>
        <p:txBody>
          <a:bodyPr anchor="t" rtlCol="false" tIns="0" lIns="0" bIns="0" rIns="0">
            <a:spAutoFit/>
          </a:bodyPr>
          <a:lstStyle/>
          <a:p>
            <a:pPr algn="r" marL="0" indent="0" lvl="0">
              <a:lnSpc>
                <a:spcPts val="2100"/>
              </a:lnSpc>
              <a:spcBef>
                <a:spcPct val="0"/>
              </a:spcBef>
            </a:pPr>
            <a:r>
              <a:rPr lang="en-US" b="true" sz="2100" strike="noStrike" u="none">
                <a:solidFill>
                  <a:srgbClr val="000000"/>
                </a:solidFill>
                <a:latin typeface="Inter Bold"/>
                <a:ea typeface="Inter Bold"/>
                <a:cs typeface="Inter Bold"/>
                <a:sym typeface="Inter Bold"/>
              </a:rPr>
              <a:t>Project 2026</a:t>
            </a:r>
          </a:p>
        </p:txBody>
      </p:sp>
      <p:sp>
        <p:nvSpPr>
          <p:cNvPr name="TextBox 8" id="8"/>
          <p:cNvSpPr txBox="true"/>
          <p:nvPr/>
        </p:nvSpPr>
        <p:spPr>
          <a:xfrm rot="0">
            <a:off x="2539851" y="5517823"/>
            <a:ext cx="4609981" cy="2124075"/>
          </a:xfrm>
          <a:prstGeom prst="rect">
            <a:avLst/>
          </a:prstGeom>
        </p:spPr>
        <p:txBody>
          <a:bodyPr anchor="t" rtlCol="false" tIns="0" lIns="0" bIns="0" rIns="0">
            <a:spAutoFit/>
          </a:bodyPr>
          <a:lstStyle/>
          <a:p>
            <a:pPr algn="ctr">
              <a:lnSpc>
                <a:spcPts val="4200"/>
              </a:lnSpc>
            </a:pPr>
            <a:r>
              <a:rPr lang="en-US" sz="3000" b="true">
                <a:solidFill>
                  <a:srgbClr val="000000"/>
                </a:solidFill>
                <a:latin typeface="Inter Bold"/>
                <a:ea typeface="Inter Bold"/>
                <a:cs typeface="Inter Bold"/>
                <a:sym typeface="Inter Bold"/>
              </a:rPr>
              <a:t>Presente</a:t>
            </a:r>
            <a:r>
              <a:rPr lang="en-US" b="true" sz="3000">
                <a:solidFill>
                  <a:srgbClr val="000000"/>
                </a:solidFill>
                <a:latin typeface="Inter Bold"/>
                <a:ea typeface="Inter Bold"/>
                <a:cs typeface="Inter Bold"/>
                <a:sym typeface="Inter Bold"/>
              </a:rPr>
              <a:t>d By</a:t>
            </a:r>
          </a:p>
          <a:p>
            <a:pPr algn="ctr">
              <a:lnSpc>
                <a:spcPts val="4200"/>
              </a:lnSpc>
            </a:pPr>
            <a:r>
              <a:rPr lang="en-US" sz="3000">
                <a:solidFill>
                  <a:srgbClr val="000000"/>
                </a:solidFill>
                <a:latin typeface="Inter"/>
                <a:ea typeface="Inter"/>
                <a:cs typeface="Inter"/>
                <a:sym typeface="Inter"/>
              </a:rPr>
              <a:t>Angajala Dinesh Kartheek</a:t>
            </a:r>
          </a:p>
          <a:p>
            <a:pPr algn="ctr">
              <a:lnSpc>
                <a:spcPts val="4200"/>
              </a:lnSpc>
            </a:pPr>
            <a:r>
              <a:rPr lang="en-US" b="true" sz="3000">
                <a:solidFill>
                  <a:srgbClr val="000000"/>
                </a:solidFill>
                <a:latin typeface="Inter Bold"/>
                <a:ea typeface="Inter Bold"/>
                <a:cs typeface="Inter Bold"/>
                <a:sym typeface="Inter Bold"/>
              </a:rPr>
              <a:t>Roll No:</a:t>
            </a:r>
            <a:r>
              <a:rPr lang="en-US" sz="3000">
                <a:solidFill>
                  <a:srgbClr val="000000"/>
                </a:solidFill>
                <a:latin typeface="Inter"/>
                <a:ea typeface="Inter"/>
                <a:cs typeface="Inter"/>
                <a:sym typeface="Inter"/>
              </a:rPr>
              <a:t> 23cs01005</a:t>
            </a:r>
          </a:p>
          <a:p>
            <a:pPr algn="ctr">
              <a:lnSpc>
                <a:spcPts val="4200"/>
              </a:lnSpc>
            </a:pPr>
          </a:p>
        </p:txBody>
      </p:sp>
      <p:sp>
        <p:nvSpPr>
          <p:cNvPr name="TextBox 9" id="9"/>
          <p:cNvSpPr txBox="true"/>
          <p:nvPr/>
        </p:nvSpPr>
        <p:spPr>
          <a:xfrm rot="0">
            <a:off x="7868608" y="3955723"/>
            <a:ext cx="9238774" cy="3190875"/>
          </a:xfrm>
          <a:prstGeom prst="rect">
            <a:avLst/>
          </a:prstGeom>
        </p:spPr>
        <p:txBody>
          <a:bodyPr anchor="t" rtlCol="false" tIns="0" lIns="0" bIns="0" rIns="0">
            <a:spAutoFit/>
          </a:bodyPr>
          <a:lstStyle/>
          <a:p>
            <a:pPr algn="ctr">
              <a:lnSpc>
                <a:spcPts val="4200"/>
              </a:lnSpc>
            </a:pPr>
            <a:r>
              <a:rPr lang="en-US" sz="3000" b="true">
                <a:solidFill>
                  <a:srgbClr val="000000"/>
                </a:solidFill>
                <a:latin typeface="Inter Bold"/>
                <a:ea typeface="Inter Bold"/>
                <a:cs typeface="Inter Bold"/>
                <a:sym typeface="Inter Bold"/>
              </a:rPr>
              <a:t>Un</a:t>
            </a:r>
            <a:r>
              <a:rPr lang="en-US" b="true" sz="3000">
                <a:solidFill>
                  <a:srgbClr val="000000"/>
                </a:solidFill>
                <a:latin typeface="Inter Bold"/>
                <a:ea typeface="Inter Bold"/>
                <a:cs typeface="Inter Bold"/>
                <a:sym typeface="Inter Bold"/>
              </a:rPr>
              <a:t>der the Guidance of</a:t>
            </a:r>
          </a:p>
          <a:p>
            <a:pPr algn="ctr">
              <a:lnSpc>
                <a:spcPts val="4200"/>
              </a:lnSpc>
            </a:pPr>
            <a:r>
              <a:rPr lang="en-US" b="true" sz="3000">
                <a:solidFill>
                  <a:srgbClr val="000000"/>
                </a:solidFill>
                <a:latin typeface="Inter Bold"/>
                <a:ea typeface="Inter Bold"/>
                <a:cs typeface="Inter Bold"/>
                <a:sym typeface="Inter Bold"/>
              </a:rPr>
              <a:t>Dr. Barathram Ramkumar</a:t>
            </a:r>
          </a:p>
          <a:p>
            <a:pPr algn="ctr">
              <a:lnSpc>
                <a:spcPts val="4200"/>
              </a:lnSpc>
            </a:pPr>
            <a:r>
              <a:rPr lang="en-US" sz="3000">
                <a:solidFill>
                  <a:srgbClr val="000000"/>
                </a:solidFill>
                <a:latin typeface="Inter"/>
                <a:ea typeface="Inter"/>
                <a:cs typeface="Inter"/>
                <a:sym typeface="Inter"/>
              </a:rPr>
              <a:t>Associate Professor</a:t>
            </a:r>
          </a:p>
          <a:p>
            <a:pPr algn="ctr">
              <a:lnSpc>
                <a:spcPts val="4200"/>
              </a:lnSpc>
            </a:pPr>
            <a:r>
              <a:rPr lang="en-US" sz="3000">
                <a:solidFill>
                  <a:srgbClr val="000000"/>
                </a:solidFill>
                <a:latin typeface="Inter"/>
                <a:ea typeface="Inter"/>
                <a:cs typeface="Inter"/>
                <a:sym typeface="Inter"/>
              </a:rPr>
              <a:t>School of Electrical and Computer Sciences (SECS)</a:t>
            </a:r>
          </a:p>
          <a:p>
            <a:pPr algn="ctr">
              <a:lnSpc>
                <a:spcPts val="4200"/>
              </a:lnSpc>
            </a:pPr>
            <a:r>
              <a:rPr lang="en-US" sz="3000">
                <a:solidFill>
                  <a:srgbClr val="000000"/>
                </a:solidFill>
                <a:latin typeface="Inter"/>
                <a:ea typeface="Inter"/>
                <a:cs typeface="Inter"/>
                <a:sym typeface="Inter"/>
              </a:rPr>
              <a:t>Indian Institute of Technology Bhubaneswar</a:t>
            </a:r>
          </a:p>
          <a:p>
            <a:pPr algn="ctr">
              <a:lnSpc>
                <a:spcPts val="4200"/>
              </a:lnSpc>
            </a:pPr>
          </a:p>
        </p:txBody>
      </p:sp>
    </p:spTree>
  </p:cSld>
  <p:clrMapOvr>
    <a:masterClrMapping/>
  </p:clrMapOvr>
</p:sld>
</file>

<file path=ppt/slides/slide2.xml><?xml version="1.0" encoding="utf-8"?>
<p:sld xmlns:p="http://schemas.openxmlformats.org/presentationml/2006/main" xmlns:a="http://schemas.openxmlformats.org/drawingml/2006/main">
  <p:cSld>
    <p:bg>
      <p:bgPr>
        <a:solidFill>
          <a:srgbClr val="F5F5F5"/>
        </a:solidFill>
      </p:bgPr>
    </p:bg>
    <p:spTree>
      <p:nvGrpSpPr>
        <p:cNvPr id="1" name=""/>
        <p:cNvGrpSpPr/>
        <p:nvPr/>
      </p:nvGrpSpPr>
      <p:grpSpPr>
        <a:xfrm>
          <a:off x="0" y="0"/>
          <a:ext cx="0" cy="0"/>
          <a:chOff x="0" y="0"/>
          <a:chExt cx="0" cy="0"/>
        </a:xfrm>
      </p:grpSpPr>
      <p:sp>
        <p:nvSpPr>
          <p:cNvPr name="TextBox 2" id="2"/>
          <p:cNvSpPr txBox="true"/>
          <p:nvPr/>
        </p:nvSpPr>
        <p:spPr>
          <a:xfrm rot="0">
            <a:off x="757992" y="553941"/>
            <a:ext cx="14117468" cy="2042796"/>
          </a:xfrm>
          <a:prstGeom prst="rect">
            <a:avLst/>
          </a:prstGeom>
        </p:spPr>
        <p:txBody>
          <a:bodyPr anchor="t" rtlCol="false" tIns="0" lIns="0" bIns="0" rIns="0">
            <a:spAutoFit/>
          </a:bodyPr>
          <a:lstStyle/>
          <a:p>
            <a:pPr algn="l">
              <a:lnSpc>
                <a:spcPts val="7840"/>
              </a:lnSpc>
            </a:pPr>
            <a:r>
              <a:rPr lang="en-US" sz="8000" b="true">
                <a:solidFill>
                  <a:srgbClr val="000000"/>
                </a:solidFill>
                <a:latin typeface="TT Hoves Bold"/>
                <a:ea typeface="TT Hoves Bold"/>
                <a:cs typeface="TT Hoves Bold"/>
                <a:sym typeface="TT Hoves Bold"/>
              </a:rPr>
              <a:t>PROB</a:t>
            </a:r>
            <a:r>
              <a:rPr lang="en-US" b="true" sz="8000">
                <a:solidFill>
                  <a:srgbClr val="000000"/>
                </a:solidFill>
                <a:latin typeface="TT Hoves Bold"/>
                <a:ea typeface="TT Hoves Bold"/>
                <a:cs typeface="TT Hoves Bold"/>
                <a:sym typeface="TT Hoves Bold"/>
              </a:rPr>
              <a:t>LEM &amp; PROJECT APPROACH</a:t>
            </a:r>
          </a:p>
        </p:txBody>
      </p:sp>
      <p:sp>
        <p:nvSpPr>
          <p:cNvPr name="TextBox 3" id="3"/>
          <p:cNvSpPr txBox="true"/>
          <p:nvPr/>
        </p:nvSpPr>
        <p:spPr>
          <a:xfrm rot="0">
            <a:off x="757992" y="2625315"/>
            <a:ext cx="16772016" cy="2890393"/>
          </a:xfrm>
          <a:prstGeom prst="rect">
            <a:avLst/>
          </a:prstGeom>
        </p:spPr>
        <p:txBody>
          <a:bodyPr anchor="t" rtlCol="false" tIns="0" lIns="0" bIns="0" rIns="0">
            <a:spAutoFit/>
          </a:bodyPr>
          <a:lstStyle/>
          <a:p>
            <a:pPr algn="just" marL="0" indent="0" lvl="0">
              <a:lnSpc>
                <a:spcPts val="4575"/>
              </a:lnSpc>
            </a:pPr>
            <a:r>
              <a:rPr lang="en-US" b="true" sz="2599">
                <a:solidFill>
                  <a:srgbClr val="000000"/>
                </a:solidFill>
                <a:latin typeface="Inter Bold"/>
                <a:ea typeface="Inter Bold"/>
                <a:cs typeface="Inter Bold"/>
                <a:sym typeface="Inter Bold"/>
              </a:rPr>
              <a:t>Probl</a:t>
            </a:r>
            <a:r>
              <a:rPr lang="en-US" b="true" sz="2599">
                <a:solidFill>
                  <a:srgbClr val="000000"/>
                </a:solidFill>
                <a:latin typeface="Inter Bold"/>
                <a:ea typeface="Inter Bold"/>
                <a:cs typeface="Inter Bold"/>
                <a:sym typeface="Inter Bold"/>
              </a:rPr>
              <a:t>em</a:t>
            </a:r>
          </a:p>
          <a:p>
            <a:pPr algn="just" marL="453390" indent="-226695" lvl="1">
              <a:lnSpc>
                <a:spcPts val="3696"/>
              </a:lnSpc>
              <a:buFont typeface="Arial"/>
              <a:buChar char="•"/>
            </a:pPr>
            <a:r>
              <a:rPr lang="en-US" sz="2100">
                <a:solidFill>
                  <a:srgbClr val="000000"/>
                </a:solidFill>
                <a:latin typeface="Inter"/>
                <a:ea typeface="Inter"/>
                <a:cs typeface="Inter"/>
                <a:sym typeface="Inter"/>
              </a:rPr>
              <a:t>Crop diseases can significantly reduce crop productivity and quality.</a:t>
            </a:r>
          </a:p>
          <a:p>
            <a:pPr algn="just" marL="453390" indent="-226695" lvl="1">
              <a:lnSpc>
                <a:spcPts val="3696"/>
              </a:lnSpc>
              <a:buFont typeface="Arial"/>
              <a:buChar char="•"/>
            </a:pPr>
            <a:r>
              <a:rPr lang="en-US" sz="2100">
                <a:solidFill>
                  <a:srgbClr val="000000"/>
                </a:solidFill>
                <a:latin typeface="Inter"/>
                <a:ea typeface="Inter"/>
                <a:cs typeface="Inter"/>
                <a:sym typeface="Inter"/>
              </a:rPr>
              <a:t>Image-based deep learning can automatically identify disease patterns from plant leaf images.</a:t>
            </a:r>
          </a:p>
          <a:p>
            <a:pPr algn="just" marL="453390" indent="-226695" lvl="1">
              <a:lnSpc>
                <a:spcPts val="3696"/>
              </a:lnSpc>
              <a:buFont typeface="Arial"/>
              <a:buChar char="•"/>
            </a:pPr>
            <a:r>
              <a:rPr lang="en-US" sz="2100">
                <a:solidFill>
                  <a:srgbClr val="000000"/>
                </a:solidFill>
                <a:latin typeface="Inter"/>
                <a:ea typeface="Inter"/>
                <a:cs typeface="Inter"/>
                <a:sym typeface="Inter"/>
              </a:rPr>
              <a:t>However, a centralized approach requires collecting and transferring large amounts of image data to a central location.</a:t>
            </a:r>
          </a:p>
          <a:p>
            <a:pPr algn="just" marL="453390" indent="-226695" lvl="1">
              <a:lnSpc>
                <a:spcPts val="3696"/>
              </a:lnSpc>
              <a:buFont typeface="Arial"/>
              <a:buChar char="•"/>
            </a:pPr>
            <a:r>
              <a:rPr lang="en-US" sz="2100">
                <a:solidFill>
                  <a:srgbClr val="000000"/>
                </a:solidFill>
                <a:latin typeface="Inter"/>
                <a:ea typeface="Inter"/>
                <a:cs typeface="Inter"/>
                <a:sym typeface="Inter"/>
              </a:rPr>
              <a:t>This creates challenges related to data privacy, data availability, security, and data-transfer costs.</a:t>
            </a:r>
          </a:p>
          <a:p>
            <a:pPr algn="just">
              <a:lnSpc>
                <a:spcPts val="3696"/>
              </a:lnSpc>
            </a:pPr>
          </a:p>
        </p:txBody>
      </p:sp>
      <p:sp>
        <p:nvSpPr>
          <p:cNvPr name="TextBox 4" id="4"/>
          <p:cNvSpPr txBox="true"/>
          <p:nvPr/>
        </p:nvSpPr>
        <p:spPr>
          <a:xfrm rot="0">
            <a:off x="15027880" y="1202837"/>
            <a:ext cx="2231420" cy="291539"/>
          </a:xfrm>
          <a:prstGeom prst="rect">
            <a:avLst/>
          </a:prstGeom>
        </p:spPr>
        <p:txBody>
          <a:bodyPr anchor="t" rtlCol="false" tIns="0" lIns="0" bIns="0" rIns="0">
            <a:spAutoFit/>
          </a:bodyPr>
          <a:lstStyle/>
          <a:p>
            <a:pPr algn="r" marL="0" indent="0" lvl="0">
              <a:lnSpc>
                <a:spcPts val="2100"/>
              </a:lnSpc>
              <a:spcBef>
                <a:spcPct val="0"/>
              </a:spcBef>
            </a:pPr>
            <a:r>
              <a:rPr lang="en-US" b="true" sz="2100" strike="noStrike" u="none">
                <a:solidFill>
                  <a:srgbClr val="000000"/>
                </a:solidFill>
                <a:latin typeface="Inter Bold"/>
                <a:ea typeface="Inter Bold"/>
                <a:cs typeface="Inter Bold"/>
                <a:sym typeface="Inter Bold"/>
              </a:rPr>
              <a:t>Project 2026</a:t>
            </a:r>
          </a:p>
        </p:txBody>
      </p:sp>
      <p:sp>
        <p:nvSpPr>
          <p:cNvPr name="TextBox 5" id="5"/>
          <p:cNvSpPr txBox="true"/>
          <p:nvPr/>
        </p:nvSpPr>
        <p:spPr>
          <a:xfrm rot="0">
            <a:off x="757992" y="5572862"/>
            <a:ext cx="16772016" cy="3232023"/>
          </a:xfrm>
          <a:prstGeom prst="rect">
            <a:avLst/>
          </a:prstGeom>
        </p:spPr>
        <p:txBody>
          <a:bodyPr anchor="t" rtlCol="false" tIns="0" lIns="0" bIns="0" rIns="0">
            <a:spAutoFit/>
          </a:bodyPr>
          <a:lstStyle/>
          <a:p>
            <a:pPr algn="l">
              <a:lnSpc>
                <a:spcPts val="3696"/>
              </a:lnSpc>
            </a:pPr>
            <a:r>
              <a:rPr lang="en-US" sz="2100" b="true">
                <a:solidFill>
                  <a:srgbClr val="000000"/>
                </a:solidFill>
                <a:latin typeface="Inter Bold"/>
                <a:ea typeface="Inter Bold"/>
                <a:cs typeface="Inter Bold"/>
                <a:sym typeface="Inter Bold"/>
              </a:rPr>
              <a:t>Project Approach</a:t>
            </a:r>
          </a:p>
          <a:p>
            <a:pPr algn="l" marL="453390" indent="-226695" lvl="1">
              <a:lnSpc>
                <a:spcPts val="3696"/>
              </a:lnSpc>
              <a:buFont typeface="Arial"/>
              <a:buChar char="•"/>
            </a:pPr>
            <a:r>
              <a:rPr lang="en-US" sz="2100">
                <a:solidFill>
                  <a:srgbClr val="000000"/>
                </a:solidFill>
                <a:latin typeface="Inter"/>
                <a:ea typeface="Inter"/>
                <a:cs typeface="Inter"/>
                <a:sym typeface="Inter"/>
              </a:rPr>
              <a:t>Federated Learning (FL) provides a distributed alternative where training data remains within its assigned client.</a:t>
            </a:r>
          </a:p>
          <a:p>
            <a:pPr algn="l" marL="453390" indent="-226695" lvl="1">
              <a:lnSpc>
                <a:spcPts val="3696"/>
              </a:lnSpc>
              <a:buFont typeface="Arial"/>
              <a:buChar char="•"/>
            </a:pPr>
            <a:r>
              <a:rPr lang="en-US" sz="2100">
                <a:solidFill>
                  <a:srgbClr val="000000"/>
                </a:solidFill>
                <a:latin typeface="Inter"/>
                <a:ea typeface="Inter"/>
                <a:cs typeface="Inter"/>
                <a:sym typeface="Inter"/>
              </a:rPr>
              <a:t>Instead of sending raw images to a central server, clients train locally and send model parameters/updates to the server.</a:t>
            </a:r>
          </a:p>
          <a:p>
            <a:pPr algn="l" marL="453390" indent="-226695" lvl="1">
              <a:lnSpc>
                <a:spcPts val="3696"/>
              </a:lnSpc>
              <a:buFont typeface="Arial"/>
              <a:buChar char="•"/>
            </a:pPr>
            <a:r>
              <a:rPr lang="en-US" sz="2100">
                <a:solidFill>
                  <a:srgbClr val="000000"/>
                </a:solidFill>
                <a:latin typeface="Inter"/>
                <a:ea typeface="Inter"/>
                <a:cs typeface="Inter"/>
                <a:sym typeface="Inter"/>
              </a:rPr>
              <a:t>The server aggregates these updates using FedAvg to create an improved global model.</a:t>
            </a:r>
          </a:p>
          <a:p>
            <a:pPr algn="l" marL="453390" indent="-226695" lvl="1">
              <a:lnSpc>
                <a:spcPts val="3696"/>
              </a:lnSpc>
              <a:buFont typeface="Arial"/>
              <a:buChar char="•"/>
            </a:pPr>
            <a:r>
              <a:rPr lang="en-US" sz="2100">
                <a:solidFill>
                  <a:srgbClr val="000000"/>
                </a:solidFill>
                <a:latin typeface="Inter"/>
                <a:ea typeface="Inter"/>
                <a:cs typeface="Inter"/>
                <a:sym typeface="Inter"/>
              </a:rPr>
              <a:t>The motivation of this internship was to implement this complete federated pipeline and investigate whether CNN models can achieve high disease-classification performance under repeated federated aggregation.</a:t>
            </a:r>
          </a:p>
          <a:p>
            <a:pPr algn="l">
              <a:lnSpc>
                <a:spcPts val="3696"/>
              </a:lnSpc>
            </a:pP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756885" y="2263858"/>
            <a:ext cx="6943666" cy="7070625"/>
          </a:xfrm>
          <a:custGeom>
            <a:avLst/>
            <a:gdLst/>
            <a:ahLst/>
            <a:cxnLst/>
            <a:rect r="r" b="b" t="t" l="l"/>
            <a:pathLst>
              <a:path h="7070625" w="6943666">
                <a:moveTo>
                  <a:pt x="0" y="0"/>
                </a:moveTo>
                <a:lnTo>
                  <a:pt x="6943667" y="0"/>
                </a:lnTo>
                <a:lnTo>
                  <a:pt x="6943667" y="7070625"/>
                </a:lnTo>
                <a:lnTo>
                  <a:pt x="0" y="7070625"/>
                </a:lnTo>
                <a:lnTo>
                  <a:pt x="0" y="0"/>
                </a:lnTo>
                <a:close/>
              </a:path>
            </a:pathLst>
          </a:custGeom>
          <a:blipFill>
            <a:blip r:embed="rId2"/>
            <a:stretch>
              <a:fillRect l="0" t="0" r="0" b="0"/>
            </a:stretch>
          </a:blipFill>
        </p:spPr>
      </p:sp>
      <p:sp>
        <p:nvSpPr>
          <p:cNvPr name="TextBox 3" id="3"/>
          <p:cNvSpPr txBox="true"/>
          <p:nvPr/>
        </p:nvSpPr>
        <p:spPr>
          <a:xfrm rot="0">
            <a:off x="426104" y="2425783"/>
            <a:ext cx="8115300" cy="2042796"/>
          </a:xfrm>
          <a:prstGeom prst="rect">
            <a:avLst/>
          </a:prstGeom>
        </p:spPr>
        <p:txBody>
          <a:bodyPr anchor="t" rtlCol="false" tIns="0" lIns="0" bIns="0" rIns="0">
            <a:spAutoFit/>
          </a:bodyPr>
          <a:lstStyle/>
          <a:p>
            <a:pPr algn="l">
              <a:lnSpc>
                <a:spcPts val="7840"/>
              </a:lnSpc>
            </a:pPr>
            <a:r>
              <a:rPr lang="en-US" b="true" sz="8000">
                <a:solidFill>
                  <a:srgbClr val="000000"/>
                </a:solidFill>
                <a:latin typeface="TT Hoves Bold"/>
                <a:ea typeface="TT Hoves Bold"/>
                <a:cs typeface="TT Hoves Bold"/>
                <a:sym typeface="TT Hoves Bold"/>
              </a:rPr>
              <a:t>WORK</a:t>
            </a:r>
            <a:r>
              <a:rPr lang="en-US" b="true" sz="8000">
                <a:solidFill>
                  <a:srgbClr val="000000"/>
                </a:solidFill>
                <a:latin typeface="TT Hoves Bold"/>
                <a:ea typeface="TT Hoves Bold"/>
                <a:cs typeface="TT Hoves Bold"/>
                <a:sym typeface="TT Hoves Bold"/>
              </a:rPr>
              <a:t> METHODOLOGY</a:t>
            </a:r>
          </a:p>
        </p:txBody>
      </p:sp>
      <p:sp>
        <p:nvSpPr>
          <p:cNvPr name="TextBox 4" id="4"/>
          <p:cNvSpPr txBox="true"/>
          <p:nvPr/>
        </p:nvSpPr>
        <p:spPr>
          <a:xfrm rot="0">
            <a:off x="426104" y="4650865"/>
            <a:ext cx="9689436" cy="3232023"/>
          </a:xfrm>
          <a:prstGeom prst="rect">
            <a:avLst/>
          </a:prstGeom>
        </p:spPr>
        <p:txBody>
          <a:bodyPr anchor="t" rtlCol="false" tIns="0" lIns="0" bIns="0" rIns="0">
            <a:spAutoFit/>
          </a:bodyPr>
          <a:lstStyle/>
          <a:p>
            <a:pPr algn="just" marL="0" indent="0" lvl="0">
              <a:lnSpc>
                <a:spcPts val="3696"/>
              </a:lnSpc>
            </a:pPr>
            <a:r>
              <a:rPr lang="en-US" sz="2100">
                <a:solidFill>
                  <a:srgbClr val="000000"/>
                </a:solidFill>
                <a:latin typeface="Inter"/>
                <a:ea typeface="Inter"/>
                <a:cs typeface="Inter"/>
                <a:sym typeface="Inter"/>
              </a:rPr>
              <a:t>1. Initi</a:t>
            </a:r>
            <a:r>
              <a:rPr lang="en-US" sz="2100">
                <a:solidFill>
                  <a:srgbClr val="000000"/>
                </a:solidFill>
                <a:latin typeface="Inter"/>
                <a:ea typeface="Inter"/>
                <a:cs typeface="Inter"/>
                <a:sym typeface="Inter"/>
              </a:rPr>
              <a:t>alize → Initialize the global model</a:t>
            </a:r>
          </a:p>
          <a:p>
            <a:pPr algn="just" marL="0" indent="0" lvl="0">
              <a:lnSpc>
                <a:spcPts val="3696"/>
              </a:lnSpc>
            </a:pPr>
            <a:r>
              <a:rPr lang="en-US" sz="2100">
                <a:solidFill>
                  <a:srgbClr val="000000"/>
                </a:solidFill>
                <a:latin typeface="Inter"/>
                <a:ea typeface="Inter"/>
                <a:cs typeface="Inter"/>
                <a:sym typeface="Inter"/>
              </a:rPr>
              <a:t>2. Distribute → Send the global model to clients</a:t>
            </a:r>
          </a:p>
          <a:p>
            <a:pPr algn="just" marL="0" indent="0" lvl="0">
              <a:lnSpc>
                <a:spcPts val="3696"/>
              </a:lnSpc>
            </a:pPr>
            <a:r>
              <a:rPr lang="en-US" sz="2100">
                <a:solidFill>
                  <a:srgbClr val="000000"/>
                </a:solidFill>
                <a:latin typeface="Inter"/>
                <a:ea typeface="Inter"/>
                <a:cs typeface="Inter"/>
                <a:sym typeface="Inter"/>
              </a:rPr>
              <a:t>3. Local Training → Train locally using private data</a:t>
            </a:r>
          </a:p>
          <a:p>
            <a:pPr algn="just" marL="0" indent="0" lvl="0">
              <a:lnSpc>
                <a:spcPts val="3696"/>
              </a:lnSpc>
            </a:pPr>
            <a:r>
              <a:rPr lang="en-US" sz="2100">
                <a:solidFill>
                  <a:srgbClr val="000000"/>
                </a:solidFill>
                <a:latin typeface="Inter"/>
                <a:ea typeface="Inter"/>
                <a:cs typeface="Inter"/>
                <a:sym typeface="Inter"/>
              </a:rPr>
              <a:t>4. Parameter Transfer → Send updated model parameters to the server</a:t>
            </a:r>
          </a:p>
          <a:p>
            <a:pPr algn="just" marL="0" indent="0" lvl="0">
              <a:lnSpc>
                <a:spcPts val="3696"/>
              </a:lnSpc>
            </a:pPr>
            <a:r>
              <a:rPr lang="en-US" sz="2100">
                <a:solidFill>
                  <a:srgbClr val="000000"/>
                </a:solidFill>
                <a:latin typeface="Inter"/>
                <a:ea typeface="Inter"/>
                <a:cs typeface="Inter"/>
                <a:sym typeface="Inter"/>
              </a:rPr>
              <a:t>5. FedAvg Aggregation → Aggregate client models into a new global model</a:t>
            </a:r>
          </a:p>
          <a:p>
            <a:pPr algn="just" marL="0" indent="0" lvl="0">
              <a:lnSpc>
                <a:spcPts val="3696"/>
              </a:lnSpc>
            </a:pPr>
            <a:r>
              <a:rPr lang="en-US" sz="2100">
                <a:solidFill>
                  <a:srgbClr val="000000"/>
                </a:solidFill>
                <a:latin typeface="Inter"/>
                <a:ea typeface="Inter"/>
                <a:cs typeface="Inter"/>
                <a:sym typeface="Inter"/>
              </a:rPr>
              <a:t>6. Global Model Update → Distribute the updated global model</a:t>
            </a:r>
          </a:p>
          <a:p>
            <a:pPr algn="just">
              <a:lnSpc>
                <a:spcPts val="3696"/>
              </a:lnSpc>
            </a:pPr>
            <a:r>
              <a:rPr lang="en-US" sz="2100">
                <a:solidFill>
                  <a:srgbClr val="000000"/>
                </a:solidFill>
                <a:latin typeface="Inter"/>
                <a:ea typeface="Inter"/>
                <a:cs typeface="Inter"/>
                <a:sym typeface="Inter"/>
              </a:rPr>
              <a:t>7. Repeat → Continue for multiple communication rounds</a:t>
            </a:r>
          </a:p>
        </p:txBody>
      </p:sp>
      <p:sp>
        <p:nvSpPr>
          <p:cNvPr name="TextBox 5" id="5"/>
          <p:cNvSpPr txBox="true"/>
          <p:nvPr/>
        </p:nvSpPr>
        <p:spPr>
          <a:xfrm rot="0">
            <a:off x="15027880" y="1202837"/>
            <a:ext cx="2231420" cy="291539"/>
          </a:xfrm>
          <a:prstGeom prst="rect">
            <a:avLst/>
          </a:prstGeom>
        </p:spPr>
        <p:txBody>
          <a:bodyPr anchor="t" rtlCol="false" tIns="0" lIns="0" bIns="0" rIns="0">
            <a:spAutoFit/>
          </a:bodyPr>
          <a:lstStyle/>
          <a:p>
            <a:pPr algn="r" marL="0" indent="0" lvl="0">
              <a:lnSpc>
                <a:spcPts val="2100"/>
              </a:lnSpc>
              <a:spcBef>
                <a:spcPct val="0"/>
              </a:spcBef>
            </a:pPr>
            <a:r>
              <a:rPr lang="en-US" b="true" sz="2100" strike="noStrike" u="none">
                <a:solidFill>
                  <a:srgbClr val="000000"/>
                </a:solidFill>
                <a:latin typeface="Inter Bold"/>
                <a:ea typeface="Inter Bold"/>
                <a:cs typeface="Inter Bold"/>
                <a:sym typeface="Inter Bold"/>
              </a:rPr>
              <a:t>Project 2026</a:t>
            </a:r>
          </a:p>
        </p:txBody>
      </p:sp>
    </p:spTree>
  </p:cSld>
  <p:clrMapOvr>
    <a:masterClrMapping/>
  </p:clrMapOvr>
</p:sld>
</file>

<file path=ppt/slides/slide4.xml><?xml version="1.0" encoding="utf-8"?>
<p:sld xmlns:p="http://schemas.openxmlformats.org/presentationml/2006/main" xmlns:a="http://schemas.openxmlformats.org/drawingml/2006/main">
  <p:cSld>
    <p:bg>
      <p:bgPr>
        <a:solidFill>
          <a:srgbClr val="F5F5F5"/>
        </a:solidFill>
      </p:bgPr>
    </p:bg>
    <p:spTree>
      <p:nvGrpSpPr>
        <p:cNvPr id="1" name=""/>
        <p:cNvGrpSpPr/>
        <p:nvPr/>
      </p:nvGrpSpPr>
      <p:grpSpPr>
        <a:xfrm>
          <a:off x="0" y="0"/>
          <a:ext cx="0" cy="0"/>
          <a:chOff x="0" y="0"/>
          <a:chExt cx="0" cy="0"/>
        </a:xfrm>
      </p:grpSpPr>
      <p:grpSp>
        <p:nvGrpSpPr>
          <p:cNvPr name="Group 2" id="2"/>
          <p:cNvGrpSpPr/>
          <p:nvPr/>
        </p:nvGrpSpPr>
        <p:grpSpPr>
          <a:xfrm rot="0">
            <a:off x="680027" y="3733390"/>
            <a:ext cx="8285939" cy="4772524"/>
            <a:chOff x="0" y="0"/>
            <a:chExt cx="2182305" cy="1256961"/>
          </a:xfrm>
        </p:grpSpPr>
        <p:sp>
          <p:nvSpPr>
            <p:cNvPr name="Freeform 3" id="3"/>
            <p:cNvSpPr/>
            <p:nvPr/>
          </p:nvSpPr>
          <p:spPr>
            <a:xfrm flipH="false" flipV="false" rot="0">
              <a:off x="0" y="0"/>
              <a:ext cx="2182305" cy="1256961"/>
            </a:xfrm>
            <a:custGeom>
              <a:avLst/>
              <a:gdLst/>
              <a:ahLst/>
              <a:cxnLst/>
              <a:rect r="r" b="b" t="t" l="l"/>
              <a:pathLst>
                <a:path h="1256961" w="2182305">
                  <a:moveTo>
                    <a:pt x="32702" y="0"/>
                  </a:moveTo>
                  <a:lnTo>
                    <a:pt x="2149603" y="0"/>
                  </a:lnTo>
                  <a:cubicBezTo>
                    <a:pt x="2167664" y="0"/>
                    <a:pt x="2182305" y="14641"/>
                    <a:pt x="2182305" y="32702"/>
                  </a:cubicBezTo>
                  <a:lnTo>
                    <a:pt x="2182305" y="1224259"/>
                  </a:lnTo>
                  <a:cubicBezTo>
                    <a:pt x="2182305" y="1232932"/>
                    <a:pt x="2178859" y="1241250"/>
                    <a:pt x="2172726" y="1247383"/>
                  </a:cubicBezTo>
                  <a:cubicBezTo>
                    <a:pt x="2166594" y="1253516"/>
                    <a:pt x="2158276" y="1256961"/>
                    <a:pt x="2149603" y="1256961"/>
                  </a:cubicBezTo>
                  <a:lnTo>
                    <a:pt x="32702" y="1256961"/>
                  </a:lnTo>
                  <a:cubicBezTo>
                    <a:pt x="14641" y="1256961"/>
                    <a:pt x="0" y="1242320"/>
                    <a:pt x="0" y="1224259"/>
                  </a:cubicBezTo>
                  <a:lnTo>
                    <a:pt x="0" y="32702"/>
                  </a:lnTo>
                  <a:cubicBezTo>
                    <a:pt x="0" y="14641"/>
                    <a:pt x="14641" y="0"/>
                    <a:pt x="32702" y="0"/>
                  </a:cubicBezTo>
                  <a:close/>
                </a:path>
              </a:pathLst>
            </a:custGeom>
            <a:solidFill>
              <a:srgbClr val="004717"/>
            </a:solidFill>
          </p:spPr>
        </p:sp>
        <p:sp>
          <p:nvSpPr>
            <p:cNvPr name="TextBox 4" id="4"/>
            <p:cNvSpPr txBox="true"/>
            <p:nvPr/>
          </p:nvSpPr>
          <p:spPr>
            <a:xfrm>
              <a:off x="0" y="-38100"/>
              <a:ext cx="2182305" cy="1295061"/>
            </a:xfrm>
            <a:prstGeom prst="rect">
              <a:avLst/>
            </a:prstGeom>
          </p:spPr>
          <p:txBody>
            <a:bodyPr anchor="ctr" rtlCol="false" tIns="50800" lIns="50800" bIns="50800" rIns="50800"/>
            <a:lstStyle/>
            <a:p>
              <a:pPr algn="ctr">
                <a:lnSpc>
                  <a:spcPts val="2659"/>
                </a:lnSpc>
                <a:spcBef>
                  <a:spcPct val="0"/>
                </a:spcBef>
              </a:pPr>
            </a:p>
          </p:txBody>
        </p:sp>
      </p:grpSp>
      <p:sp>
        <p:nvSpPr>
          <p:cNvPr name="TextBox 5" id="5"/>
          <p:cNvSpPr txBox="true"/>
          <p:nvPr/>
        </p:nvSpPr>
        <p:spPr>
          <a:xfrm rot="0">
            <a:off x="3135416" y="1190625"/>
            <a:ext cx="12364411" cy="2042796"/>
          </a:xfrm>
          <a:prstGeom prst="rect">
            <a:avLst/>
          </a:prstGeom>
        </p:spPr>
        <p:txBody>
          <a:bodyPr anchor="t" rtlCol="false" tIns="0" lIns="0" bIns="0" rIns="0">
            <a:spAutoFit/>
          </a:bodyPr>
          <a:lstStyle/>
          <a:p>
            <a:pPr algn="ctr" marL="0" indent="0" lvl="0">
              <a:lnSpc>
                <a:spcPts val="7840"/>
              </a:lnSpc>
              <a:spcBef>
                <a:spcPct val="0"/>
              </a:spcBef>
            </a:pPr>
            <a:r>
              <a:rPr lang="en-US" b="true" sz="8000">
                <a:solidFill>
                  <a:srgbClr val="000000"/>
                </a:solidFill>
                <a:latin typeface="TT Hoves Bold"/>
                <a:ea typeface="TT Hoves Bold"/>
                <a:cs typeface="TT Hoves Bold"/>
                <a:sym typeface="TT Hoves Bold"/>
              </a:rPr>
              <a:t>DAT</a:t>
            </a:r>
            <a:r>
              <a:rPr lang="en-US" b="true" sz="8000" strike="noStrike" u="none">
                <a:solidFill>
                  <a:srgbClr val="000000"/>
                </a:solidFill>
                <a:latin typeface="TT Hoves Bold"/>
                <a:ea typeface="TT Hoves Bold"/>
                <a:cs typeface="TT Hoves Bold"/>
                <a:sym typeface="TT Hoves Bold"/>
              </a:rPr>
              <a:t>A</a:t>
            </a:r>
            <a:r>
              <a:rPr lang="en-US" b="true" sz="8000" strike="noStrike" u="none">
                <a:solidFill>
                  <a:srgbClr val="000000"/>
                </a:solidFill>
                <a:latin typeface="TT Hoves Bold"/>
                <a:ea typeface="TT Hoves Bold"/>
                <a:cs typeface="TT Hoves Bold"/>
                <a:sym typeface="TT Hoves Bold"/>
              </a:rPr>
              <a:t>S</a:t>
            </a:r>
            <a:r>
              <a:rPr lang="en-US" b="true" sz="8000" strike="noStrike" u="none">
                <a:solidFill>
                  <a:srgbClr val="000000"/>
                </a:solidFill>
                <a:latin typeface="TT Hoves Bold"/>
                <a:ea typeface="TT Hoves Bold"/>
                <a:cs typeface="TT Hoves Bold"/>
                <a:sym typeface="TT Hoves Bold"/>
              </a:rPr>
              <a:t>ET</a:t>
            </a:r>
            <a:r>
              <a:rPr lang="en-US" b="true" sz="8000" strike="noStrike" u="none">
                <a:solidFill>
                  <a:srgbClr val="000000"/>
                </a:solidFill>
                <a:latin typeface="TT Hoves Bold"/>
                <a:ea typeface="TT Hoves Bold"/>
                <a:cs typeface="TT Hoves Bold"/>
                <a:sym typeface="TT Hoves Bold"/>
              </a:rPr>
              <a:t>, MODEL</a:t>
            </a:r>
            <a:r>
              <a:rPr lang="en-US" b="true" sz="8000" strike="noStrike" u="none">
                <a:solidFill>
                  <a:srgbClr val="000000"/>
                </a:solidFill>
                <a:latin typeface="TT Hoves Bold"/>
                <a:ea typeface="TT Hoves Bold"/>
                <a:cs typeface="TT Hoves Bold"/>
                <a:sym typeface="TT Hoves Bold"/>
              </a:rPr>
              <a:t>S &amp; </a:t>
            </a:r>
            <a:r>
              <a:rPr lang="en-US" b="true" sz="8000" strike="noStrike" u="none">
                <a:solidFill>
                  <a:srgbClr val="000000"/>
                </a:solidFill>
                <a:latin typeface="TT Hoves Bold"/>
                <a:ea typeface="TT Hoves Bold"/>
                <a:cs typeface="TT Hoves Bold"/>
                <a:sym typeface="TT Hoves Bold"/>
              </a:rPr>
              <a:t>EXPERIM</a:t>
            </a:r>
            <a:r>
              <a:rPr lang="en-US" b="true" sz="8000" strike="noStrike" u="none">
                <a:solidFill>
                  <a:srgbClr val="000000"/>
                </a:solidFill>
                <a:latin typeface="TT Hoves Bold"/>
                <a:ea typeface="TT Hoves Bold"/>
                <a:cs typeface="TT Hoves Bold"/>
                <a:sym typeface="TT Hoves Bold"/>
              </a:rPr>
              <a:t>E</a:t>
            </a:r>
            <a:r>
              <a:rPr lang="en-US" b="true" sz="8000" strike="noStrike" u="none">
                <a:solidFill>
                  <a:srgbClr val="000000"/>
                </a:solidFill>
                <a:latin typeface="TT Hoves Bold"/>
                <a:ea typeface="TT Hoves Bold"/>
                <a:cs typeface="TT Hoves Bold"/>
                <a:sym typeface="TT Hoves Bold"/>
              </a:rPr>
              <a:t>N</a:t>
            </a:r>
            <a:r>
              <a:rPr lang="en-US" b="true" sz="8000" strike="noStrike" u="none">
                <a:solidFill>
                  <a:srgbClr val="000000"/>
                </a:solidFill>
                <a:latin typeface="TT Hoves Bold"/>
                <a:ea typeface="TT Hoves Bold"/>
                <a:cs typeface="TT Hoves Bold"/>
                <a:sym typeface="TT Hoves Bold"/>
              </a:rPr>
              <a:t>T</a:t>
            </a:r>
            <a:r>
              <a:rPr lang="en-US" b="true" sz="8000" strike="noStrike" u="none">
                <a:solidFill>
                  <a:srgbClr val="000000"/>
                </a:solidFill>
                <a:latin typeface="TT Hoves Bold"/>
                <a:ea typeface="TT Hoves Bold"/>
                <a:cs typeface="TT Hoves Bold"/>
                <a:sym typeface="TT Hoves Bold"/>
              </a:rPr>
              <a:t>AL D</a:t>
            </a:r>
            <a:r>
              <a:rPr lang="en-US" b="true" sz="8000" strike="noStrike" u="none">
                <a:solidFill>
                  <a:srgbClr val="000000"/>
                </a:solidFill>
                <a:latin typeface="TT Hoves Bold"/>
                <a:ea typeface="TT Hoves Bold"/>
                <a:cs typeface="TT Hoves Bold"/>
                <a:sym typeface="TT Hoves Bold"/>
              </a:rPr>
              <a:t>ES</a:t>
            </a:r>
            <a:r>
              <a:rPr lang="en-US" b="true" sz="8000" strike="noStrike" u="none">
                <a:solidFill>
                  <a:srgbClr val="000000"/>
                </a:solidFill>
                <a:latin typeface="TT Hoves Bold"/>
                <a:ea typeface="TT Hoves Bold"/>
                <a:cs typeface="TT Hoves Bold"/>
                <a:sym typeface="TT Hoves Bold"/>
              </a:rPr>
              <a:t>IGN</a:t>
            </a:r>
          </a:p>
        </p:txBody>
      </p:sp>
      <p:sp>
        <p:nvSpPr>
          <p:cNvPr name="TextBox 6" id="6"/>
          <p:cNvSpPr txBox="true"/>
          <p:nvPr/>
        </p:nvSpPr>
        <p:spPr>
          <a:xfrm rot="0">
            <a:off x="863390" y="3999726"/>
            <a:ext cx="7060303" cy="612123"/>
          </a:xfrm>
          <a:prstGeom prst="rect">
            <a:avLst/>
          </a:prstGeom>
        </p:spPr>
        <p:txBody>
          <a:bodyPr anchor="t" rtlCol="false" tIns="0" lIns="0" bIns="0" rIns="0">
            <a:spAutoFit/>
          </a:bodyPr>
          <a:lstStyle/>
          <a:p>
            <a:pPr algn="l">
              <a:lnSpc>
                <a:spcPts val="4801"/>
              </a:lnSpc>
            </a:pPr>
            <a:r>
              <a:rPr lang="en-US" sz="3405" b="true">
                <a:solidFill>
                  <a:srgbClr val="FFFFFF"/>
                </a:solidFill>
                <a:latin typeface="Inter Medium"/>
                <a:ea typeface="Inter Medium"/>
                <a:cs typeface="Inter Medium"/>
                <a:sym typeface="Inter Medium"/>
              </a:rPr>
              <a:t>Dat</a:t>
            </a:r>
            <a:r>
              <a:rPr lang="en-US" sz="3405" b="true">
                <a:solidFill>
                  <a:srgbClr val="FFFFFF"/>
                </a:solidFill>
                <a:latin typeface="Inter Medium"/>
                <a:ea typeface="Inter Medium"/>
                <a:cs typeface="Inter Medium"/>
                <a:sym typeface="Inter Medium"/>
              </a:rPr>
              <a:t>aset &amp; Disease Classification</a:t>
            </a:r>
          </a:p>
        </p:txBody>
      </p:sp>
      <p:sp>
        <p:nvSpPr>
          <p:cNvPr name="TextBox 7" id="7"/>
          <p:cNvSpPr txBox="true"/>
          <p:nvPr/>
        </p:nvSpPr>
        <p:spPr>
          <a:xfrm rot="0">
            <a:off x="863390" y="4660430"/>
            <a:ext cx="7919211" cy="3058414"/>
          </a:xfrm>
          <a:prstGeom prst="rect">
            <a:avLst/>
          </a:prstGeom>
        </p:spPr>
        <p:txBody>
          <a:bodyPr anchor="t" rtlCol="false" tIns="0" lIns="0" bIns="0" rIns="0">
            <a:spAutoFit/>
          </a:bodyPr>
          <a:lstStyle/>
          <a:p>
            <a:pPr algn="just">
              <a:lnSpc>
                <a:spcPts val="4928"/>
              </a:lnSpc>
            </a:pPr>
            <a:r>
              <a:rPr lang="en-US" sz="2800">
                <a:solidFill>
                  <a:srgbClr val="FFFFFF"/>
                </a:solidFill>
                <a:latin typeface="Inter"/>
                <a:ea typeface="Inter"/>
                <a:cs typeface="Inter"/>
                <a:sym typeface="Inter"/>
              </a:rPr>
              <a:t>The P</a:t>
            </a:r>
            <a:r>
              <a:rPr lang="en-US" sz="2800">
                <a:solidFill>
                  <a:srgbClr val="FFFFFF"/>
                </a:solidFill>
                <a:latin typeface="Inter"/>
                <a:ea typeface="Inter"/>
                <a:cs typeface="Inter"/>
                <a:sym typeface="Inter"/>
              </a:rPr>
              <a:t>lantVillage dataset was used with four crop subsets: Grape, Apple, Corn, and Tomato, containing 4, 4, 4, and 10 disease classes, respectively. Images were resized to 224 × 224 and normalized before classification.</a:t>
            </a:r>
          </a:p>
        </p:txBody>
      </p:sp>
      <p:grpSp>
        <p:nvGrpSpPr>
          <p:cNvPr name="Group 8" id="8"/>
          <p:cNvGrpSpPr/>
          <p:nvPr/>
        </p:nvGrpSpPr>
        <p:grpSpPr>
          <a:xfrm rot="0">
            <a:off x="9317621" y="3733390"/>
            <a:ext cx="8285939" cy="4772524"/>
            <a:chOff x="0" y="0"/>
            <a:chExt cx="2182305" cy="1256961"/>
          </a:xfrm>
        </p:grpSpPr>
        <p:sp>
          <p:nvSpPr>
            <p:cNvPr name="Freeform 9" id="9"/>
            <p:cNvSpPr/>
            <p:nvPr/>
          </p:nvSpPr>
          <p:spPr>
            <a:xfrm flipH="false" flipV="false" rot="0">
              <a:off x="0" y="0"/>
              <a:ext cx="2182305" cy="1256961"/>
            </a:xfrm>
            <a:custGeom>
              <a:avLst/>
              <a:gdLst/>
              <a:ahLst/>
              <a:cxnLst/>
              <a:rect r="r" b="b" t="t" l="l"/>
              <a:pathLst>
                <a:path h="1256961" w="2182305">
                  <a:moveTo>
                    <a:pt x="32702" y="0"/>
                  </a:moveTo>
                  <a:lnTo>
                    <a:pt x="2149603" y="0"/>
                  </a:lnTo>
                  <a:cubicBezTo>
                    <a:pt x="2167664" y="0"/>
                    <a:pt x="2182305" y="14641"/>
                    <a:pt x="2182305" y="32702"/>
                  </a:cubicBezTo>
                  <a:lnTo>
                    <a:pt x="2182305" y="1224259"/>
                  </a:lnTo>
                  <a:cubicBezTo>
                    <a:pt x="2182305" y="1232932"/>
                    <a:pt x="2178859" y="1241250"/>
                    <a:pt x="2172726" y="1247383"/>
                  </a:cubicBezTo>
                  <a:cubicBezTo>
                    <a:pt x="2166594" y="1253516"/>
                    <a:pt x="2158276" y="1256961"/>
                    <a:pt x="2149603" y="1256961"/>
                  </a:cubicBezTo>
                  <a:lnTo>
                    <a:pt x="32702" y="1256961"/>
                  </a:lnTo>
                  <a:cubicBezTo>
                    <a:pt x="14641" y="1256961"/>
                    <a:pt x="0" y="1242320"/>
                    <a:pt x="0" y="1224259"/>
                  </a:cubicBezTo>
                  <a:lnTo>
                    <a:pt x="0" y="32702"/>
                  </a:lnTo>
                  <a:cubicBezTo>
                    <a:pt x="0" y="14641"/>
                    <a:pt x="14641" y="0"/>
                    <a:pt x="32702" y="0"/>
                  </a:cubicBezTo>
                  <a:close/>
                </a:path>
              </a:pathLst>
            </a:custGeom>
            <a:solidFill>
              <a:srgbClr val="004717"/>
            </a:solidFill>
          </p:spPr>
        </p:sp>
        <p:sp>
          <p:nvSpPr>
            <p:cNvPr name="TextBox 10" id="10"/>
            <p:cNvSpPr txBox="true"/>
            <p:nvPr/>
          </p:nvSpPr>
          <p:spPr>
            <a:xfrm>
              <a:off x="0" y="-38100"/>
              <a:ext cx="2182305" cy="1295061"/>
            </a:xfrm>
            <a:prstGeom prst="rect">
              <a:avLst/>
            </a:prstGeom>
          </p:spPr>
          <p:txBody>
            <a:bodyPr anchor="ctr" rtlCol="false" tIns="50800" lIns="50800" bIns="50800" rIns="50800"/>
            <a:lstStyle/>
            <a:p>
              <a:pPr algn="ctr">
                <a:lnSpc>
                  <a:spcPts val="2659"/>
                </a:lnSpc>
                <a:spcBef>
                  <a:spcPct val="0"/>
                </a:spcBef>
              </a:pPr>
            </a:p>
          </p:txBody>
        </p:sp>
      </p:grpSp>
      <p:sp>
        <p:nvSpPr>
          <p:cNvPr name="TextBox 11" id="11"/>
          <p:cNvSpPr txBox="true"/>
          <p:nvPr/>
        </p:nvSpPr>
        <p:spPr>
          <a:xfrm rot="0">
            <a:off x="9562243" y="3999726"/>
            <a:ext cx="6581347" cy="612123"/>
          </a:xfrm>
          <a:prstGeom prst="rect">
            <a:avLst/>
          </a:prstGeom>
        </p:spPr>
        <p:txBody>
          <a:bodyPr anchor="t" rtlCol="false" tIns="0" lIns="0" bIns="0" rIns="0">
            <a:spAutoFit/>
          </a:bodyPr>
          <a:lstStyle/>
          <a:p>
            <a:pPr algn="l">
              <a:lnSpc>
                <a:spcPts val="4801"/>
              </a:lnSpc>
            </a:pPr>
            <a:r>
              <a:rPr lang="en-US" sz="3405" b="true">
                <a:solidFill>
                  <a:srgbClr val="FFFFFF"/>
                </a:solidFill>
                <a:latin typeface="Inter Medium"/>
                <a:ea typeface="Inter Medium"/>
                <a:cs typeface="Inter Medium"/>
                <a:sym typeface="Inter Medium"/>
              </a:rPr>
              <a:t>Mode</a:t>
            </a:r>
            <a:r>
              <a:rPr lang="en-US" sz="3405" b="true">
                <a:solidFill>
                  <a:srgbClr val="FFFFFF"/>
                </a:solidFill>
                <a:latin typeface="Inter Medium"/>
                <a:ea typeface="Inter Medium"/>
                <a:cs typeface="Inter Medium"/>
                <a:sym typeface="Inter Medium"/>
              </a:rPr>
              <a:t>ls &amp; Experimental Design</a:t>
            </a:r>
          </a:p>
        </p:txBody>
      </p:sp>
      <p:sp>
        <p:nvSpPr>
          <p:cNvPr name="TextBox 12" id="12"/>
          <p:cNvSpPr txBox="true"/>
          <p:nvPr/>
        </p:nvSpPr>
        <p:spPr>
          <a:xfrm rot="0">
            <a:off x="9566767" y="4660430"/>
            <a:ext cx="7787646" cy="3677539"/>
          </a:xfrm>
          <a:prstGeom prst="rect">
            <a:avLst/>
          </a:prstGeom>
        </p:spPr>
        <p:txBody>
          <a:bodyPr anchor="t" rtlCol="false" tIns="0" lIns="0" bIns="0" rIns="0">
            <a:spAutoFit/>
          </a:bodyPr>
          <a:lstStyle/>
          <a:p>
            <a:pPr algn="l">
              <a:lnSpc>
                <a:spcPts val="4927"/>
              </a:lnSpc>
            </a:pPr>
            <a:r>
              <a:rPr lang="en-US" sz="2799">
                <a:solidFill>
                  <a:srgbClr val="FFFFFF"/>
                </a:solidFill>
                <a:latin typeface="Inter"/>
                <a:ea typeface="Inter"/>
                <a:cs typeface="Inter"/>
                <a:sym typeface="Inter"/>
              </a:rPr>
              <a:t>Thr</a:t>
            </a:r>
            <a:r>
              <a:rPr lang="en-US" sz="2799">
                <a:solidFill>
                  <a:srgbClr val="FFFFFF"/>
                </a:solidFill>
                <a:latin typeface="Inter"/>
                <a:ea typeface="Inter"/>
                <a:cs typeface="Inter"/>
                <a:sym typeface="Inter"/>
              </a:rPr>
              <a:t>ee pretrained CNN models ResNet50, VGG16 and MobileNetV2 were evaluated across the four datasets, resulting in 12 experiments. Each experiment used 3 simulated clients, 1 local epoch, and 30 communication rounds with weighted FedAvg.</a:t>
            </a:r>
          </a:p>
        </p:txBody>
      </p:sp>
      <p:sp>
        <p:nvSpPr>
          <p:cNvPr name="TextBox 13" id="13"/>
          <p:cNvSpPr txBox="true"/>
          <p:nvPr/>
        </p:nvSpPr>
        <p:spPr>
          <a:xfrm rot="0">
            <a:off x="15027880" y="1202837"/>
            <a:ext cx="2231420" cy="291539"/>
          </a:xfrm>
          <a:prstGeom prst="rect">
            <a:avLst/>
          </a:prstGeom>
        </p:spPr>
        <p:txBody>
          <a:bodyPr anchor="t" rtlCol="false" tIns="0" lIns="0" bIns="0" rIns="0">
            <a:spAutoFit/>
          </a:bodyPr>
          <a:lstStyle/>
          <a:p>
            <a:pPr algn="r" marL="0" indent="0" lvl="0">
              <a:lnSpc>
                <a:spcPts val="2100"/>
              </a:lnSpc>
              <a:spcBef>
                <a:spcPct val="0"/>
              </a:spcBef>
            </a:pPr>
            <a:r>
              <a:rPr lang="en-US" b="true" sz="2100" strike="noStrike" u="none">
                <a:solidFill>
                  <a:srgbClr val="000000"/>
                </a:solidFill>
                <a:latin typeface="Inter Bold"/>
                <a:ea typeface="Inter Bold"/>
                <a:cs typeface="Inter Bold"/>
                <a:sym typeface="Inter Bold"/>
              </a:rPr>
              <a:t>Project 2026</a:t>
            </a:r>
          </a:p>
        </p:txBody>
      </p:sp>
    </p:spTree>
  </p:cSld>
  <p:clrMapOvr>
    <a:masterClrMapping/>
  </p:clrMapOvr>
</p:sld>
</file>

<file path=ppt/slides/slide5.xml><?xml version="1.0" encoding="utf-8"?>
<p:sld xmlns:p="http://schemas.openxmlformats.org/presentationml/2006/main" xmlns:a="http://schemas.openxmlformats.org/drawingml/2006/main">
  <p:cSld>
    <p:bg>
      <p:bgPr>
        <a:solidFill>
          <a:srgbClr val="F5F5F5"/>
        </a:solidFill>
      </p:bgPr>
    </p:bg>
    <p:spTree>
      <p:nvGrpSpPr>
        <p:cNvPr id="1" name=""/>
        <p:cNvGrpSpPr/>
        <p:nvPr/>
      </p:nvGrpSpPr>
      <p:grpSpPr>
        <a:xfrm>
          <a:off x="0" y="0"/>
          <a:ext cx="0" cy="0"/>
          <a:chOff x="0" y="0"/>
          <a:chExt cx="0" cy="0"/>
        </a:xfrm>
      </p:grpSpPr>
      <p:sp>
        <p:nvSpPr>
          <p:cNvPr name="TextBox 2" id="2"/>
          <p:cNvSpPr txBox="true"/>
          <p:nvPr/>
        </p:nvSpPr>
        <p:spPr>
          <a:xfrm rot="0">
            <a:off x="3066016" y="476171"/>
            <a:ext cx="10899300" cy="2042796"/>
          </a:xfrm>
          <a:prstGeom prst="rect">
            <a:avLst/>
          </a:prstGeom>
        </p:spPr>
        <p:txBody>
          <a:bodyPr anchor="t" rtlCol="false" tIns="0" lIns="0" bIns="0" rIns="0">
            <a:spAutoFit/>
          </a:bodyPr>
          <a:lstStyle/>
          <a:p>
            <a:pPr algn="ctr">
              <a:lnSpc>
                <a:spcPts val="7840"/>
              </a:lnSpc>
            </a:pPr>
            <a:r>
              <a:rPr lang="en-US" b="true" sz="8000">
                <a:solidFill>
                  <a:srgbClr val="000000"/>
                </a:solidFill>
                <a:latin typeface="TT Hoves Bold"/>
                <a:ea typeface="TT Hoves Bold"/>
                <a:cs typeface="TT Hoves Bold"/>
                <a:sym typeface="TT Hoves Bold"/>
              </a:rPr>
              <a:t>IMPL</a:t>
            </a:r>
            <a:r>
              <a:rPr lang="en-US" b="true" sz="8000">
                <a:solidFill>
                  <a:srgbClr val="000000"/>
                </a:solidFill>
                <a:latin typeface="TT Hoves Bold"/>
                <a:ea typeface="TT Hoves Bold"/>
                <a:cs typeface="TT Hoves Bold"/>
                <a:sym typeface="TT Hoves Bold"/>
              </a:rPr>
              <a:t>E</a:t>
            </a:r>
            <a:r>
              <a:rPr lang="en-US" b="true" sz="8000">
                <a:solidFill>
                  <a:srgbClr val="000000"/>
                </a:solidFill>
                <a:latin typeface="TT Hoves Bold"/>
                <a:ea typeface="TT Hoves Bold"/>
                <a:cs typeface="TT Hoves Bold"/>
                <a:sym typeface="TT Hoves Bold"/>
              </a:rPr>
              <a:t>MENTATION WORKFLOW</a:t>
            </a:r>
          </a:p>
        </p:txBody>
      </p:sp>
      <p:sp>
        <p:nvSpPr>
          <p:cNvPr name="TextBox 3" id="3"/>
          <p:cNvSpPr txBox="true"/>
          <p:nvPr/>
        </p:nvSpPr>
        <p:spPr>
          <a:xfrm rot="0">
            <a:off x="15027880" y="1202837"/>
            <a:ext cx="2231420" cy="291539"/>
          </a:xfrm>
          <a:prstGeom prst="rect">
            <a:avLst/>
          </a:prstGeom>
        </p:spPr>
        <p:txBody>
          <a:bodyPr anchor="t" rtlCol="false" tIns="0" lIns="0" bIns="0" rIns="0">
            <a:spAutoFit/>
          </a:bodyPr>
          <a:lstStyle/>
          <a:p>
            <a:pPr algn="r" marL="0" indent="0" lvl="0">
              <a:lnSpc>
                <a:spcPts val="2100"/>
              </a:lnSpc>
              <a:spcBef>
                <a:spcPct val="0"/>
              </a:spcBef>
            </a:pPr>
            <a:r>
              <a:rPr lang="en-US" b="true" sz="2100" strike="noStrike" u="none">
                <a:solidFill>
                  <a:srgbClr val="000000"/>
                </a:solidFill>
                <a:latin typeface="Inter Bold"/>
                <a:ea typeface="Inter Bold"/>
                <a:cs typeface="Inter Bold"/>
                <a:sym typeface="Inter Bold"/>
              </a:rPr>
              <a:t>Project 2026</a:t>
            </a:r>
          </a:p>
        </p:txBody>
      </p:sp>
      <p:sp>
        <p:nvSpPr>
          <p:cNvPr name="TextBox 4" id="4"/>
          <p:cNvSpPr txBox="true"/>
          <p:nvPr/>
        </p:nvSpPr>
        <p:spPr>
          <a:xfrm rot="0">
            <a:off x="1921378" y="2842817"/>
            <a:ext cx="4213798" cy="456688"/>
          </a:xfrm>
          <a:prstGeom prst="rect">
            <a:avLst/>
          </a:prstGeom>
        </p:spPr>
        <p:txBody>
          <a:bodyPr anchor="t" rtlCol="false" tIns="0" lIns="0" bIns="0" rIns="0">
            <a:spAutoFit/>
          </a:bodyPr>
          <a:lstStyle/>
          <a:p>
            <a:pPr algn="ctr">
              <a:lnSpc>
                <a:spcPts val="3338"/>
              </a:lnSpc>
            </a:pPr>
            <a:r>
              <a:rPr lang="en-US" sz="3406" b="true">
                <a:solidFill>
                  <a:srgbClr val="004717"/>
                </a:solidFill>
                <a:latin typeface="Inter Medium"/>
                <a:ea typeface="Inter Medium"/>
                <a:cs typeface="Inter Medium"/>
                <a:sym typeface="Inter Medium"/>
              </a:rPr>
              <a:t>D</a:t>
            </a:r>
            <a:r>
              <a:rPr lang="en-US" b="true" sz="3406">
                <a:solidFill>
                  <a:srgbClr val="004717"/>
                </a:solidFill>
                <a:latin typeface="Inter Medium"/>
                <a:ea typeface="Inter Medium"/>
                <a:cs typeface="Inter Medium"/>
                <a:sym typeface="Inter Medium"/>
              </a:rPr>
              <a:t>ataset Selection</a:t>
            </a:r>
          </a:p>
        </p:txBody>
      </p:sp>
      <p:sp>
        <p:nvSpPr>
          <p:cNvPr name="TextBox 5" id="5"/>
          <p:cNvSpPr txBox="true"/>
          <p:nvPr/>
        </p:nvSpPr>
        <p:spPr>
          <a:xfrm rot="0">
            <a:off x="1921378" y="3185205"/>
            <a:ext cx="4410186" cy="898398"/>
          </a:xfrm>
          <a:prstGeom prst="rect">
            <a:avLst/>
          </a:prstGeom>
        </p:spPr>
        <p:txBody>
          <a:bodyPr anchor="t" rtlCol="false" tIns="0" lIns="0" bIns="0" rIns="0">
            <a:spAutoFit/>
          </a:bodyPr>
          <a:lstStyle/>
          <a:p>
            <a:pPr algn="ctr">
              <a:lnSpc>
                <a:spcPts val="3696"/>
              </a:lnSpc>
            </a:pPr>
            <a:r>
              <a:rPr lang="en-US" sz="2100">
                <a:solidFill>
                  <a:srgbClr val="000000"/>
                </a:solidFill>
                <a:latin typeface="Inter"/>
                <a:ea typeface="Inter"/>
                <a:cs typeface="Inter"/>
                <a:sym typeface="Inter"/>
              </a:rPr>
              <a:t>Select crop dataset and disease classes.</a:t>
            </a:r>
          </a:p>
        </p:txBody>
      </p:sp>
      <p:sp>
        <p:nvSpPr>
          <p:cNvPr name="TextBox 6" id="6"/>
          <p:cNvSpPr txBox="true"/>
          <p:nvPr/>
        </p:nvSpPr>
        <p:spPr>
          <a:xfrm rot="0">
            <a:off x="13965316" y="5673775"/>
            <a:ext cx="4163035" cy="930016"/>
          </a:xfrm>
          <a:prstGeom prst="rect">
            <a:avLst/>
          </a:prstGeom>
        </p:spPr>
        <p:txBody>
          <a:bodyPr anchor="t" rtlCol="false" tIns="0" lIns="0" bIns="0" rIns="0">
            <a:spAutoFit/>
          </a:bodyPr>
          <a:lstStyle/>
          <a:p>
            <a:pPr algn="ctr">
              <a:lnSpc>
                <a:spcPts val="3856"/>
              </a:lnSpc>
            </a:pPr>
            <a:r>
              <a:rPr lang="en-US" sz="2191">
                <a:solidFill>
                  <a:srgbClr val="000000"/>
                </a:solidFill>
                <a:latin typeface="Inter"/>
                <a:ea typeface="Inter"/>
                <a:cs typeface="Inter"/>
                <a:sym typeface="Inter"/>
              </a:rPr>
              <a:t>Me</a:t>
            </a:r>
            <a:r>
              <a:rPr lang="en-US" sz="2191">
                <a:solidFill>
                  <a:srgbClr val="000000"/>
                </a:solidFill>
                <a:latin typeface="Inter"/>
                <a:ea typeface="Inter"/>
                <a:cs typeface="Inter"/>
                <a:sym typeface="Inter"/>
              </a:rPr>
              <a:t>asure Accuracy/F1 and repeat for 30 rounds. </a:t>
            </a:r>
          </a:p>
        </p:txBody>
      </p:sp>
      <p:sp>
        <p:nvSpPr>
          <p:cNvPr name="TextBox 7" id="7"/>
          <p:cNvSpPr txBox="true"/>
          <p:nvPr/>
        </p:nvSpPr>
        <p:spPr>
          <a:xfrm rot="0">
            <a:off x="13965316" y="4814804"/>
            <a:ext cx="3933777" cy="876325"/>
          </a:xfrm>
          <a:prstGeom prst="rect">
            <a:avLst/>
          </a:prstGeom>
        </p:spPr>
        <p:txBody>
          <a:bodyPr anchor="t" rtlCol="false" tIns="0" lIns="0" bIns="0" rIns="0">
            <a:spAutoFit/>
          </a:bodyPr>
          <a:lstStyle/>
          <a:p>
            <a:pPr algn="ctr">
              <a:lnSpc>
                <a:spcPts val="3341"/>
              </a:lnSpc>
            </a:pPr>
            <a:r>
              <a:rPr lang="en-US" sz="3410" b="true">
                <a:solidFill>
                  <a:srgbClr val="004717"/>
                </a:solidFill>
                <a:latin typeface="Inter Medium"/>
                <a:ea typeface="Inter Medium"/>
                <a:cs typeface="Inter Medium"/>
                <a:sym typeface="Inter Medium"/>
              </a:rPr>
              <a:t>Evaluation &amp; Iteration</a:t>
            </a:r>
          </a:p>
        </p:txBody>
      </p:sp>
      <p:grpSp>
        <p:nvGrpSpPr>
          <p:cNvPr name="Group 8" id="8"/>
          <p:cNvGrpSpPr/>
          <p:nvPr/>
        </p:nvGrpSpPr>
        <p:grpSpPr>
          <a:xfrm rot="0">
            <a:off x="324624" y="2308209"/>
            <a:ext cx="1414997" cy="1414997"/>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F8B4E"/>
            </a:solidFill>
          </p:spPr>
        </p:sp>
        <p:sp>
          <p:nvSpPr>
            <p:cNvPr name="TextBox 10" id="10"/>
            <p:cNvSpPr txBox="true"/>
            <p:nvPr/>
          </p:nvSpPr>
          <p:spPr>
            <a:xfrm>
              <a:off x="76200" y="104775"/>
              <a:ext cx="660400" cy="631825"/>
            </a:xfrm>
            <a:prstGeom prst="rect">
              <a:avLst/>
            </a:prstGeom>
          </p:spPr>
          <p:txBody>
            <a:bodyPr anchor="ctr" rtlCol="false" tIns="50800" lIns="50800" bIns="50800" rIns="50800"/>
            <a:lstStyle/>
            <a:p>
              <a:pPr algn="ctr">
                <a:lnSpc>
                  <a:spcPts val="2100"/>
                </a:lnSpc>
              </a:pPr>
            </a:p>
          </p:txBody>
        </p:sp>
      </p:grpSp>
      <p:sp>
        <p:nvSpPr>
          <p:cNvPr name="TextBox 11" id="11"/>
          <p:cNvSpPr txBox="true"/>
          <p:nvPr/>
        </p:nvSpPr>
        <p:spPr>
          <a:xfrm rot="0">
            <a:off x="510234" y="2619848"/>
            <a:ext cx="1152781" cy="944118"/>
          </a:xfrm>
          <a:prstGeom prst="rect">
            <a:avLst/>
          </a:prstGeom>
        </p:spPr>
        <p:txBody>
          <a:bodyPr anchor="t" rtlCol="false" tIns="0" lIns="0" bIns="0" rIns="0">
            <a:spAutoFit/>
          </a:bodyPr>
          <a:lstStyle/>
          <a:p>
            <a:pPr algn="just" marL="0" indent="0" lvl="0">
              <a:lnSpc>
                <a:spcPts val="7056"/>
              </a:lnSpc>
              <a:spcBef>
                <a:spcPct val="0"/>
              </a:spcBef>
            </a:pPr>
            <a:r>
              <a:rPr lang="en-US" b="true" sz="7200" strike="noStrike" u="none">
                <a:solidFill>
                  <a:srgbClr val="FFFFFF"/>
                </a:solidFill>
                <a:latin typeface="TT Hoves Bold"/>
                <a:ea typeface="TT Hoves Bold"/>
                <a:cs typeface="TT Hoves Bold"/>
                <a:sym typeface="TT Hoves Bold"/>
              </a:rPr>
              <a:t>01</a:t>
            </a:r>
          </a:p>
        </p:txBody>
      </p:sp>
      <p:grpSp>
        <p:nvGrpSpPr>
          <p:cNvPr name="Group 12" id="12"/>
          <p:cNvGrpSpPr/>
          <p:nvPr/>
        </p:nvGrpSpPr>
        <p:grpSpPr>
          <a:xfrm rot="0">
            <a:off x="12908941" y="4598415"/>
            <a:ext cx="1414997" cy="1414997"/>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F8B4E"/>
            </a:solidFill>
          </p:spPr>
        </p:sp>
        <p:sp>
          <p:nvSpPr>
            <p:cNvPr name="TextBox 14" id="14"/>
            <p:cNvSpPr txBox="true"/>
            <p:nvPr/>
          </p:nvSpPr>
          <p:spPr>
            <a:xfrm>
              <a:off x="76200" y="104775"/>
              <a:ext cx="660400" cy="631825"/>
            </a:xfrm>
            <a:prstGeom prst="rect">
              <a:avLst/>
            </a:prstGeom>
          </p:spPr>
          <p:txBody>
            <a:bodyPr anchor="ctr" rtlCol="false" tIns="50800" lIns="50800" bIns="50800" rIns="50800"/>
            <a:lstStyle/>
            <a:p>
              <a:pPr algn="ctr">
                <a:lnSpc>
                  <a:spcPts val="2100"/>
                </a:lnSpc>
              </a:pPr>
            </a:p>
          </p:txBody>
        </p:sp>
      </p:grpSp>
      <p:grpSp>
        <p:nvGrpSpPr>
          <p:cNvPr name="Group 15" id="15"/>
          <p:cNvGrpSpPr/>
          <p:nvPr/>
        </p:nvGrpSpPr>
        <p:grpSpPr>
          <a:xfrm rot="0">
            <a:off x="6945855" y="6824352"/>
            <a:ext cx="1414997" cy="1414997"/>
            <a:chOff x="0" y="0"/>
            <a:chExt cx="812800" cy="812800"/>
          </a:xfrm>
        </p:grpSpPr>
        <p:sp>
          <p:nvSpPr>
            <p:cNvPr name="Freeform 16" id="1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F8B4E"/>
            </a:solidFill>
          </p:spPr>
        </p:sp>
        <p:sp>
          <p:nvSpPr>
            <p:cNvPr name="TextBox 17" id="17"/>
            <p:cNvSpPr txBox="true"/>
            <p:nvPr/>
          </p:nvSpPr>
          <p:spPr>
            <a:xfrm>
              <a:off x="76200" y="104775"/>
              <a:ext cx="660400" cy="631825"/>
            </a:xfrm>
            <a:prstGeom prst="rect">
              <a:avLst/>
            </a:prstGeom>
          </p:spPr>
          <p:txBody>
            <a:bodyPr anchor="ctr" rtlCol="false" tIns="50800" lIns="50800" bIns="50800" rIns="50800"/>
            <a:lstStyle/>
            <a:p>
              <a:pPr algn="ctr">
                <a:lnSpc>
                  <a:spcPts val="2100"/>
                </a:lnSpc>
              </a:pPr>
            </a:p>
          </p:txBody>
        </p:sp>
      </p:grpSp>
      <p:grpSp>
        <p:nvGrpSpPr>
          <p:cNvPr name="Group 18" id="18"/>
          <p:cNvGrpSpPr/>
          <p:nvPr/>
        </p:nvGrpSpPr>
        <p:grpSpPr>
          <a:xfrm rot="0">
            <a:off x="6945855" y="4598415"/>
            <a:ext cx="1414997" cy="1414997"/>
            <a:chOff x="0" y="0"/>
            <a:chExt cx="812800" cy="812800"/>
          </a:xfrm>
        </p:grpSpPr>
        <p:sp>
          <p:nvSpPr>
            <p:cNvPr name="Freeform 19" id="1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F8B4E"/>
            </a:solidFill>
          </p:spPr>
        </p:sp>
        <p:sp>
          <p:nvSpPr>
            <p:cNvPr name="TextBox 20" id="20"/>
            <p:cNvSpPr txBox="true"/>
            <p:nvPr/>
          </p:nvSpPr>
          <p:spPr>
            <a:xfrm>
              <a:off x="76200" y="104775"/>
              <a:ext cx="660400" cy="631825"/>
            </a:xfrm>
            <a:prstGeom prst="rect">
              <a:avLst/>
            </a:prstGeom>
          </p:spPr>
          <p:txBody>
            <a:bodyPr anchor="ctr" rtlCol="false" tIns="50800" lIns="50800" bIns="50800" rIns="50800"/>
            <a:lstStyle/>
            <a:p>
              <a:pPr algn="ctr">
                <a:lnSpc>
                  <a:spcPts val="2100"/>
                </a:lnSpc>
              </a:pPr>
            </a:p>
          </p:txBody>
        </p:sp>
      </p:grpSp>
      <p:grpSp>
        <p:nvGrpSpPr>
          <p:cNvPr name="Group 21" id="21"/>
          <p:cNvGrpSpPr/>
          <p:nvPr/>
        </p:nvGrpSpPr>
        <p:grpSpPr>
          <a:xfrm rot="0">
            <a:off x="6945855" y="2308209"/>
            <a:ext cx="1414997" cy="1414997"/>
            <a:chOff x="0" y="0"/>
            <a:chExt cx="812800" cy="812800"/>
          </a:xfrm>
        </p:grpSpPr>
        <p:sp>
          <p:nvSpPr>
            <p:cNvPr name="Freeform 22" id="2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F8B4E"/>
            </a:solidFill>
          </p:spPr>
        </p:sp>
        <p:sp>
          <p:nvSpPr>
            <p:cNvPr name="TextBox 23" id="23"/>
            <p:cNvSpPr txBox="true"/>
            <p:nvPr/>
          </p:nvSpPr>
          <p:spPr>
            <a:xfrm>
              <a:off x="76200" y="104775"/>
              <a:ext cx="660400" cy="631825"/>
            </a:xfrm>
            <a:prstGeom prst="rect">
              <a:avLst/>
            </a:prstGeom>
          </p:spPr>
          <p:txBody>
            <a:bodyPr anchor="ctr" rtlCol="false" tIns="50800" lIns="50800" bIns="50800" rIns="50800"/>
            <a:lstStyle/>
            <a:p>
              <a:pPr algn="ctr">
                <a:lnSpc>
                  <a:spcPts val="2100"/>
                </a:lnSpc>
              </a:pPr>
            </a:p>
          </p:txBody>
        </p:sp>
      </p:grpSp>
      <p:grpSp>
        <p:nvGrpSpPr>
          <p:cNvPr name="Group 24" id="24"/>
          <p:cNvGrpSpPr/>
          <p:nvPr/>
        </p:nvGrpSpPr>
        <p:grpSpPr>
          <a:xfrm rot="0">
            <a:off x="379126" y="6680162"/>
            <a:ext cx="1414997" cy="1414997"/>
            <a:chOff x="0" y="0"/>
            <a:chExt cx="812800" cy="812800"/>
          </a:xfrm>
        </p:grpSpPr>
        <p:sp>
          <p:nvSpPr>
            <p:cNvPr name="Freeform 25" id="2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F8B4E"/>
            </a:solidFill>
          </p:spPr>
        </p:sp>
        <p:sp>
          <p:nvSpPr>
            <p:cNvPr name="TextBox 26" id="26"/>
            <p:cNvSpPr txBox="true"/>
            <p:nvPr/>
          </p:nvSpPr>
          <p:spPr>
            <a:xfrm>
              <a:off x="76200" y="104775"/>
              <a:ext cx="660400" cy="631825"/>
            </a:xfrm>
            <a:prstGeom prst="rect">
              <a:avLst/>
            </a:prstGeom>
          </p:spPr>
          <p:txBody>
            <a:bodyPr anchor="ctr" rtlCol="false" tIns="50800" lIns="50800" bIns="50800" rIns="50800"/>
            <a:lstStyle/>
            <a:p>
              <a:pPr algn="ctr">
                <a:lnSpc>
                  <a:spcPts val="2100"/>
                </a:lnSpc>
              </a:pPr>
            </a:p>
          </p:txBody>
        </p:sp>
      </p:grpSp>
      <p:grpSp>
        <p:nvGrpSpPr>
          <p:cNvPr name="Group 27" id="27"/>
          <p:cNvGrpSpPr/>
          <p:nvPr/>
        </p:nvGrpSpPr>
        <p:grpSpPr>
          <a:xfrm rot="0">
            <a:off x="379126" y="4598415"/>
            <a:ext cx="1414997" cy="1414997"/>
            <a:chOff x="0" y="0"/>
            <a:chExt cx="812800" cy="812800"/>
          </a:xfrm>
        </p:grpSpPr>
        <p:sp>
          <p:nvSpPr>
            <p:cNvPr name="Freeform 28" id="2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F8B4E"/>
            </a:solidFill>
          </p:spPr>
        </p:sp>
        <p:sp>
          <p:nvSpPr>
            <p:cNvPr name="TextBox 29" id="29"/>
            <p:cNvSpPr txBox="true"/>
            <p:nvPr/>
          </p:nvSpPr>
          <p:spPr>
            <a:xfrm>
              <a:off x="76200" y="104775"/>
              <a:ext cx="660400" cy="631825"/>
            </a:xfrm>
            <a:prstGeom prst="rect">
              <a:avLst/>
            </a:prstGeom>
          </p:spPr>
          <p:txBody>
            <a:bodyPr anchor="ctr" rtlCol="false" tIns="50800" lIns="50800" bIns="50800" rIns="50800"/>
            <a:lstStyle/>
            <a:p>
              <a:pPr algn="ctr">
                <a:lnSpc>
                  <a:spcPts val="2100"/>
                </a:lnSpc>
              </a:pPr>
            </a:p>
          </p:txBody>
        </p:sp>
      </p:grpSp>
      <p:sp>
        <p:nvSpPr>
          <p:cNvPr name="TextBox 30" id="30"/>
          <p:cNvSpPr txBox="true"/>
          <p:nvPr/>
        </p:nvSpPr>
        <p:spPr>
          <a:xfrm rot="0">
            <a:off x="510234" y="4931591"/>
            <a:ext cx="1217889" cy="944119"/>
          </a:xfrm>
          <a:prstGeom prst="rect">
            <a:avLst/>
          </a:prstGeom>
        </p:spPr>
        <p:txBody>
          <a:bodyPr anchor="t" rtlCol="false" tIns="0" lIns="0" bIns="0" rIns="0">
            <a:spAutoFit/>
          </a:bodyPr>
          <a:lstStyle/>
          <a:p>
            <a:pPr algn="just" marL="0" indent="0" lvl="0">
              <a:lnSpc>
                <a:spcPts val="7056"/>
              </a:lnSpc>
              <a:spcBef>
                <a:spcPct val="0"/>
              </a:spcBef>
            </a:pPr>
            <a:r>
              <a:rPr lang="en-US" b="true" sz="7200" strike="noStrike" u="none">
                <a:solidFill>
                  <a:srgbClr val="FFFFFF"/>
                </a:solidFill>
                <a:latin typeface="TT Hoves Bold"/>
                <a:ea typeface="TT Hoves Bold"/>
                <a:cs typeface="TT Hoves Bold"/>
                <a:sym typeface="TT Hoves Bold"/>
              </a:rPr>
              <a:t>02</a:t>
            </a:r>
          </a:p>
        </p:txBody>
      </p:sp>
      <p:sp>
        <p:nvSpPr>
          <p:cNvPr name="TextBox 31" id="31"/>
          <p:cNvSpPr txBox="true"/>
          <p:nvPr/>
        </p:nvSpPr>
        <p:spPr>
          <a:xfrm rot="0">
            <a:off x="445126" y="7014702"/>
            <a:ext cx="1217889" cy="944119"/>
          </a:xfrm>
          <a:prstGeom prst="rect">
            <a:avLst/>
          </a:prstGeom>
        </p:spPr>
        <p:txBody>
          <a:bodyPr anchor="t" rtlCol="false" tIns="0" lIns="0" bIns="0" rIns="0">
            <a:spAutoFit/>
          </a:bodyPr>
          <a:lstStyle/>
          <a:p>
            <a:pPr algn="just" marL="0" indent="0" lvl="0">
              <a:lnSpc>
                <a:spcPts val="7056"/>
              </a:lnSpc>
              <a:spcBef>
                <a:spcPct val="0"/>
              </a:spcBef>
            </a:pPr>
            <a:r>
              <a:rPr lang="en-US" b="true" sz="7200" strike="noStrike" u="none">
                <a:solidFill>
                  <a:srgbClr val="FFFFFF"/>
                </a:solidFill>
                <a:latin typeface="TT Hoves Bold"/>
                <a:ea typeface="TT Hoves Bold"/>
                <a:cs typeface="TT Hoves Bold"/>
                <a:sym typeface="TT Hoves Bold"/>
              </a:rPr>
              <a:t>03</a:t>
            </a:r>
          </a:p>
        </p:txBody>
      </p:sp>
      <p:sp>
        <p:nvSpPr>
          <p:cNvPr name="TextBox 32" id="32"/>
          <p:cNvSpPr txBox="true"/>
          <p:nvPr/>
        </p:nvSpPr>
        <p:spPr>
          <a:xfrm rot="0">
            <a:off x="7086125" y="2543819"/>
            <a:ext cx="1217889" cy="944119"/>
          </a:xfrm>
          <a:prstGeom prst="rect">
            <a:avLst/>
          </a:prstGeom>
        </p:spPr>
        <p:txBody>
          <a:bodyPr anchor="t" rtlCol="false" tIns="0" lIns="0" bIns="0" rIns="0">
            <a:spAutoFit/>
          </a:bodyPr>
          <a:lstStyle/>
          <a:p>
            <a:pPr algn="just" marL="0" indent="0" lvl="0">
              <a:lnSpc>
                <a:spcPts val="7056"/>
              </a:lnSpc>
              <a:spcBef>
                <a:spcPct val="0"/>
              </a:spcBef>
            </a:pPr>
            <a:r>
              <a:rPr lang="en-US" b="true" sz="7200" strike="noStrike" u="none">
                <a:solidFill>
                  <a:srgbClr val="FFFFFF"/>
                </a:solidFill>
                <a:latin typeface="TT Hoves Bold"/>
                <a:ea typeface="TT Hoves Bold"/>
                <a:cs typeface="TT Hoves Bold"/>
                <a:sym typeface="TT Hoves Bold"/>
              </a:rPr>
              <a:t>04</a:t>
            </a:r>
          </a:p>
        </p:txBody>
      </p:sp>
      <p:sp>
        <p:nvSpPr>
          <p:cNvPr name="TextBox 33" id="33"/>
          <p:cNvSpPr txBox="true"/>
          <p:nvPr/>
        </p:nvSpPr>
        <p:spPr>
          <a:xfrm rot="0">
            <a:off x="7021499" y="4931591"/>
            <a:ext cx="1217889" cy="944119"/>
          </a:xfrm>
          <a:prstGeom prst="rect">
            <a:avLst/>
          </a:prstGeom>
        </p:spPr>
        <p:txBody>
          <a:bodyPr anchor="t" rtlCol="false" tIns="0" lIns="0" bIns="0" rIns="0">
            <a:spAutoFit/>
          </a:bodyPr>
          <a:lstStyle/>
          <a:p>
            <a:pPr algn="just" marL="0" indent="0" lvl="0">
              <a:lnSpc>
                <a:spcPts val="7056"/>
              </a:lnSpc>
              <a:spcBef>
                <a:spcPct val="0"/>
              </a:spcBef>
            </a:pPr>
            <a:r>
              <a:rPr lang="en-US" b="true" sz="7200" strike="noStrike" u="none">
                <a:solidFill>
                  <a:srgbClr val="FFFFFF"/>
                </a:solidFill>
                <a:latin typeface="TT Hoves Bold"/>
                <a:ea typeface="TT Hoves Bold"/>
                <a:cs typeface="TT Hoves Bold"/>
                <a:sym typeface="TT Hoves Bold"/>
              </a:rPr>
              <a:t>05</a:t>
            </a:r>
          </a:p>
        </p:txBody>
      </p:sp>
      <p:sp>
        <p:nvSpPr>
          <p:cNvPr name="TextBox 34" id="34"/>
          <p:cNvSpPr txBox="true"/>
          <p:nvPr/>
        </p:nvSpPr>
        <p:spPr>
          <a:xfrm rot="0">
            <a:off x="7086125" y="7101202"/>
            <a:ext cx="1217889" cy="944119"/>
          </a:xfrm>
          <a:prstGeom prst="rect">
            <a:avLst/>
          </a:prstGeom>
        </p:spPr>
        <p:txBody>
          <a:bodyPr anchor="t" rtlCol="false" tIns="0" lIns="0" bIns="0" rIns="0">
            <a:spAutoFit/>
          </a:bodyPr>
          <a:lstStyle/>
          <a:p>
            <a:pPr algn="just" marL="0" indent="0" lvl="0">
              <a:lnSpc>
                <a:spcPts val="7056"/>
              </a:lnSpc>
              <a:spcBef>
                <a:spcPct val="0"/>
              </a:spcBef>
            </a:pPr>
            <a:r>
              <a:rPr lang="en-US" b="true" sz="7200" strike="noStrike" u="none">
                <a:solidFill>
                  <a:srgbClr val="FFFFFF"/>
                </a:solidFill>
                <a:latin typeface="TT Hoves Bold"/>
                <a:ea typeface="TT Hoves Bold"/>
                <a:cs typeface="TT Hoves Bold"/>
                <a:sym typeface="TT Hoves Bold"/>
              </a:rPr>
              <a:t>06</a:t>
            </a:r>
          </a:p>
        </p:txBody>
      </p:sp>
      <p:sp>
        <p:nvSpPr>
          <p:cNvPr name="TextBox 35" id="35"/>
          <p:cNvSpPr txBox="true"/>
          <p:nvPr/>
        </p:nvSpPr>
        <p:spPr>
          <a:xfrm rot="0">
            <a:off x="13089916" y="4931591"/>
            <a:ext cx="1217889" cy="944119"/>
          </a:xfrm>
          <a:prstGeom prst="rect">
            <a:avLst/>
          </a:prstGeom>
        </p:spPr>
        <p:txBody>
          <a:bodyPr anchor="t" rtlCol="false" tIns="0" lIns="0" bIns="0" rIns="0">
            <a:spAutoFit/>
          </a:bodyPr>
          <a:lstStyle/>
          <a:p>
            <a:pPr algn="just" marL="0" indent="0" lvl="0">
              <a:lnSpc>
                <a:spcPts val="7056"/>
              </a:lnSpc>
              <a:spcBef>
                <a:spcPct val="0"/>
              </a:spcBef>
            </a:pPr>
            <a:r>
              <a:rPr lang="en-US" b="true" sz="7200" strike="noStrike" u="none">
                <a:solidFill>
                  <a:srgbClr val="FFFFFF"/>
                </a:solidFill>
                <a:latin typeface="TT Hoves Bold"/>
                <a:ea typeface="TT Hoves Bold"/>
                <a:cs typeface="TT Hoves Bold"/>
                <a:sym typeface="TT Hoves Bold"/>
              </a:rPr>
              <a:t>07</a:t>
            </a:r>
          </a:p>
        </p:txBody>
      </p:sp>
      <p:sp>
        <p:nvSpPr>
          <p:cNvPr name="TextBox 36" id="36"/>
          <p:cNvSpPr txBox="true"/>
          <p:nvPr/>
        </p:nvSpPr>
        <p:spPr>
          <a:xfrm rot="0">
            <a:off x="1847030" y="4783128"/>
            <a:ext cx="4669554" cy="456688"/>
          </a:xfrm>
          <a:prstGeom prst="rect">
            <a:avLst/>
          </a:prstGeom>
        </p:spPr>
        <p:txBody>
          <a:bodyPr anchor="t" rtlCol="false" tIns="0" lIns="0" bIns="0" rIns="0">
            <a:spAutoFit/>
          </a:bodyPr>
          <a:lstStyle/>
          <a:p>
            <a:pPr algn="ctr">
              <a:lnSpc>
                <a:spcPts val="3338"/>
              </a:lnSpc>
            </a:pPr>
            <a:r>
              <a:rPr lang="en-US" sz="3406" b="true">
                <a:solidFill>
                  <a:srgbClr val="004717"/>
                </a:solidFill>
                <a:latin typeface="Inter Medium"/>
                <a:ea typeface="Inter Medium"/>
                <a:cs typeface="Inter Medium"/>
                <a:sym typeface="Inter Medium"/>
              </a:rPr>
              <a:t>Im</a:t>
            </a:r>
            <a:r>
              <a:rPr lang="en-US" b="true" sz="3406">
                <a:solidFill>
                  <a:srgbClr val="004717"/>
                </a:solidFill>
                <a:latin typeface="Inter Medium"/>
                <a:ea typeface="Inter Medium"/>
                <a:cs typeface="Inter Medium"/>
                <a:sym typeface="Inter Medium"/>
              </a:rPr>
              <a:t>age Preprocessing</a:t>
            </a:r>
          </a:p>
        </p:txBody>
      </p:sp>
      <p:sp>
        <p:nvSpPr>
          <p:cNvPr name="TextBox 37" id="37"/>
          <p:cNvSpPr txBox="true"/>
          <p:nvPr/>
        </p:nvSpPr>
        <p:spPr>
          <a:xfrm rot="0">
            <a:off x="1921860" y="5204031"/>
            <a:ext cx="4410186" cy="431673"/>
          </a:xfrm>
          <a:prstGeom prst="rect">
            <a:avLst/>
          </a:prstGeom>
        </p:spPr>
        <p:txBody>
          <a:bodyPr anchor="t" rtlCol="false" tIns="0" lIns="0" bIns="0" rIns="0">
            <a:spAutoFit/>
          </a:bodyPr>
          <a:lstStyle/>
          <a:p>
            <a:pPr algn="ctr">
              <a:lnSpc>
                <a:spcPts val="3696"/>
              </a:lnSpc>
            </a:pPr>
            <a:r>
              <a:rPr lang="en-US" sz="2100">
                <a:solidFill>
                  <a:srgbClr val="000000"/>
                </a:solidFill>
                <a:latin typeface="Inter"/>
                <a:ea typeface="Inter"/>
                <a:cs typeface="Inter"/>
                <a:sym typeface="Inter"/>
              </a:rPr>
              <a:t>R</a:t>
            </a:r>
            <a:r>
              <a:rPr lang="en-US" sz="2100">
                <a:solidFill>
                  <a:srgbClr val="000000"/>
                </a:solidFill>
                <a:latin typeface="Inter"/>
                <a:ea typeface="Inter"/>
                <a:cs typeface="Inter"/>
                <a:sym typeface="Inter"/>
              </a:rPr>
              <a:t>esize and normalize images.</a:t>
            </a:r>
          </a:p>
        </p:txBody>
      </p:sp>
      <p:sp>
        <p:nvSpPr>
          <p:cNvPr name="TextBox 38" id="38"/>
          <p:cNvSpPr txBox="true"/>
          <p:nvPr/>
        </p:nvSpPr>
        <p:spPr>
          <a:xfrm rot="0">
            <a:off x="1804106" y="6953873"/>
            <a:ext cx="4669554" cy="456688"/>
          </a:xfrm>
          <a:prstGeom prst="rect">
            <a:avLst/>
          </a:prstGeom>
        </p:spPr>
        <p:txBody>
          <a:bodyPr anchor="t" rtlCol="false" tIns="0" lIns="0" bIns="0" rIns="0">
            <a:spAutoFit/>
          </a:bodyPr>
          <a:lstStyle/>
          <a:p>
            <a:pPr algn="ctr">
              <a:lnSpc>
                <a:spcPts val="3338"/>
              </a:lnSpc>
            </a:pPr>
            <a:r>
              <a:rPr lang="en-US" sz="3406" b="true">
                <a:solidFill>
                  <a:srgbClr val="004717"/>
                </a:solidFill>
                <a:latin typeface="Inter Medium"/>
                <a:ea typeface="Inter Medium"/>
                <a:cs typeface="Inter Medium"/>
                <a:sym typeface="Inter Medium"/>
              </a:rPr>
              <a:t> Cli</a:t>
            </a:r>
            <a:r>
              <a:rPr lang="en-US" b="true" sz="3406">
                <a:solidFill>
                  <a:srgbClr val="004717"/>
                </a:solidFill>
                <a:latin typeface="Inter Medium"/>
                <a:ea typeface="Inter Medium"/>
                <a:cs typeface="Inter Medium"/>
                <a:sym typeface="Inter Medium"/>
              </a:rPr>
              <a:t>ent Partitioning</a:t>
            </a:r>
          </a:p>
        </p:txBody>
      </p:sp>
      <p:sp>
        <p:nvSpPr>
          <p:cNvPr name="TextBox 39" id="39"/>
          <p:cNvSpPr txBox="true"/>
          <p:nvPr/>
        </p:nvSpPr>
        <p:spPr>
          <a:xfrm rot="0">
            <a:off x="2164896" y="7296261"/>
            <a:ext cx="4410186" cy="431673"/>
          </a:xfrm>
          <a:prstGeom prst="rect">
            <a:avLst/>
          </a:prstGeom>
        </p:spPr>
        <p:txBody>
          <a:bodyPr anchor="t" rtlCol="false" tIns="0" lIns="0" bIns="0" rIns="0">
            <a:spAutoFit/>
          </a:bodyPr>
          <a:lstStyle/>
          <a:p>
            <a:pPr algn="ctr">
              <a:lnSpc>
                <a:spcPts val="3696"/>
              </a:lnSpc>
            </a:pPr>
            <a:r>
              <a:rPr lang="en-US" sz="2100">
                <a:solidFill>
                  <a:srgbClr val="000000"/>
                </a:solidFill>
                <a:latin typeface="Inter"/>
                <a:ea typeface="Inter"/>
                <a:cs typeface="Inter"/>
                <a:sym typeface="Inter"/>
              </a:rPr>
              <a:t>Spl</a:t>
            </a:r>
            <a:r>
              <a:rPr lang="en-US" sz="2100">
                <a:solidFill>
                  <a:srgbClr val="000000"/>
                </a:solidFill>
                <a:latin typeface="Inter"/>
                <a:ea typeface="Inter"/>
                <a:cs typeface="Inter"/>
                <a:sym typeface="Inter"/>
              </a:rPr>
              <a:t>it training data among 3 clients.</a:t>
            </a:r>
          </a:p>
        </p:txBody>
      </p:sp>
      <p:sp>
        <p:nvSpPr>
          <p:cNvPr name="TextBox 40" id="40"/>
          <p:cNvSpPr txBox="true"/>
          <p:nvPr/>
        </p:nvSpPr>
        <p:spPr>
          <a:xfrm rot="0">
            <a:off x="8239388" y="2842817"/>
            <a:ext cx="4669554" cy="456688"/>
          </a:xfrm>
          <a:prstGeom prst="rect">
            <a:avLst/>
          </a:prstGeom>
        </p:spPr>
        <p:txBody>
          <a:bodyPr anchor="t" rtlCol="false" tIns="0" lIns="0" bIns="0" rIns="0">
            <a:spAutoFit/>
          </a:bodyPr>
          <a:lstStyle/>
          <a:p>
            <a:pPr algn="ctr">
              <a:lnSpc>
                <a:spcPts val="3338"/>
              </a:lnSpc>
            </a:pPr>
            <a:r>
              <a:rPr lang="en-US" sz="3406" b="true">
                <a:solidFill>
                  <a:srgbClr val="004717"/>
                </a:solidFill>
                <a:latin typeface="Inter Medium"/>
                <a:ea typeface="Inter Medium"/>
                <a:cs typeface="Inter Medium"/>
                <a:sym typeface="Inter Medium"/>
              </a:rPr>
              <a:t>Model Ini</a:t>
            </a:r>
            <a:r>
              <a:rPr lang="en-US" b="true" sz="3406">
                <a:solidFill>
                  <a:srgbClr val="004717"/>
                </a:solidFill>
                <a:latin typeface="Inter Medium"/>
                <a:ea typeface="Inter Medium"/>
                <a:cs typeface="Inter Medium"/>
                <a:sym typeface="Inter Medium"/>
              </a:rPr>
              <a:t>tialization</a:t>
            </a:r>
          </a:p>
        </p:txBody>
      </p:sp>
      <p:sp>
        <p:nvSpPr>
          <p:cNvPr name="TextBox 41" id="41"/>
          <p:cNvSpPr txBox="true"/>
          <p:nvPr/>
        </p:nvSpPr>
        <p:spPr>
          <a:xfrm rot="0">
            <a:off x="8239388" y="4783128"/>
            <a:ext cx="4669554" cy="456688"/>
          </a:xfrm>
          <a:prstGeom prst="rect">
            <a:avLst/>
          </a:prstGeom>
        </p:spPr>
        <p:txBody>
          <a:bodyPr anchor="t" rtlCol="false" tIns="0" lIns="0" bIns="0" rIns="0">
            <a:spAutoFit/>
          </a:bodyPr>
          <a:lstStyle/>
          <a:p>
            <a:pPr algn="ctr">
              <a:lnSpc>
                <a:spcPts val="3338"/>
              </a:lnSpc>
            </a:pPr>
            <a:r>
              <a:rPr lang="en-US" sz="3406" b="true">
                <a:solidFill>
                  <a:srgbClr val="004717"/>
                </a:solidFill>
                <a:latin typeface="Inter Medium"/>
                <a:ea typeface="Inter Medium"/>
                <a:cs typeface="Inter Medium"/>
                <a:sym typeface="Inter Medium"/>
              </a:rPr>
              <a:t>Local</a:t>
            </a:r>
            <a:r>
              <a:rPr lang="en-US" b="true" sz="3406">
                <a:solidFill>
                  <a:srgbClr val="004717"/>
                </a:solidFill>
                <a:latin typeface="Inter Medium"/>
                <a:ea typeface="Inter Medium"/>
                <a:cs typeface="Inter Medium"/>
                <a:sym typeface="Inter Medium"/>
              </a:rPr>
              <a:t> Training</a:t>
            </a:r>
          </a:p>
        </p:txBody>
      </p:sp>
      <p:sp>
        <p:nvSpPr>
          <p:cNvPr name="TextBox 42" id="42"/>
          <p:cNvSpPr txBox="true"/>
          <p:nvPr/>
        </p:nvSpPr>
        <p:spPr>
          <a:xfrm rot="0">
            <a:off x="8239388" y="6930972"/>
            <a:ext cx="4669554" cy="456688"/>
          </a:xfrm>
          <a:prstGeom prst="rect">
            <a:avLst/>
          </a:prstGeom>
        </p:spPr>
        <p:txBody>
          <a:bodyPr anchor="t" rtlCol="false" tIns="0" lIns="0" bIns="0" rIns="0">
            <a:spAutoFit/>
          </a:bodyPr>
          <a:lstStyle/>
          <a:p>
            <a:pPr algn="ctr">
              <a:lnSpc>
                <a:spcPts val="3338"/>
              </a:lnSpc>
            </a:pPr>
            <a:r>
              <a:rPr lang="en-US" sz="3406" b="true">
                <a:solidFill>
                  <a:srgbClr val="004717"/>
                </a:solidFill>
                <a:latin typeface="Inter Medium"/>
                <a:ea typeface="Inter Medium"/>
                <a:cs typeface="Inter Medium"/>
                <a:sym typeface="Inter Medium"/>
              </a:rPr>
              <a:t>F</a:t>
            </a:r>
            <a:r>
              <a:rPr lang="en-US" b="true" sz="3406">
                <a:solidFill>
                  <a:srgbClr val="004717"/>
                </a:solidFill>
                <a:latin typeface="Inter Medium"/>
                <a:ea typeface="Inter Medium"/>
                <a:cs typeface="Inter Medium"/>
                <a:sym typeface="Inter Medium"/>
              </a:rPr>
              <a:t>edAvg Aggregation</a:t>
            </a:r>
          </a:p>
        </p:txBody>
      </p:sp>
      <p:sp>
        <p:nvSpPr>
          <p:cNvPr name="TextBox 43" id="43"/>
          <p:cNvSpPr txBox="true"/>
          <p:nvPr/>
        </p:nvSpPr>
        <p:spPr>
          <a:xfrm rot="0">
            <a:off x="8304014" y="3185205"/>
            <a:ext cx="4410186" cy="431673"/>
          </a:xfrm>
          <a:prstGeom prst="rect">
            <a:avLst/>
          </a:prstGeom>
        </p:spPr>
        <p:txBody>
          <a:bodyPr anchor="t" rtlCol="false" tIns="0" lIns="0" bIns="0" rIns="0">
            <a:spAutoFit/>
          </a:bodyPr>
          <a:lstStyle/>
          <a:p>
            <a:pPr algn="ctr">
              <a:lnSpc>
                <a:spcPts val="3696"/>
              </a:lnSpc>
            </a:pPr>
            <a:r>
              <a:rPr lang="en-US" sz="2100">
                <a:solidFill>
                  <a:srgbClr val="000000"/>
                </a:solidFill>
                <a:latin typeface="Inter"/>
                <a:ea typeface="Inter"/>
                <a:cs typeface="Inter"/>
                <a:sym typeface="Inter"/>
              </a:rPr>
              <a:t>Load</a:t>
            </a:r>
            <a:r>
              <a:rPr lang="en-US" sz="2100">
                <a:solidFill>
                  <a:srgbClr val="000000"/>
                </a:solidFill>
                <a:latin typeface="Inter"/>
                <a:ea typeface="Inter"/>
                <a:cs typeface="Inter"/>
                <a:sym typeface="Inter"/>
              </a:rPr>
              <a:t> pretrained CNN model.</a:t>
            </a:r>
          </a:p>
        </p:txBody>
      </p:sp>
      <p:sp>
        <p:nvSpPr>
          <p:cNvPr name="TextBox 44" id="44"/>
          <p:cNvSpPr txBox="true"/>
          <p:nvPr/>
        </p:nvSpPr>
        <p:spPr>
          <a:xfrm rot="0">
            <a:off x="8418002" y="5125516"/>
            <a:ext cx="4410186" cy="898398"/>
          </a:xfrm>
          <a:prstGeom prst="rect">
            <a:avLst/>
          </a:prstGeom>
        </p:spPr>
        <p:txBody>
          <a:bodyPr anchor="t" rtlCol="false" tIns="0" lIns="0" bIns="0" rIns="0">
            <a:spAutoFit/>
          </a:bodyPr>
          <a:lstStyle/>
          <a:p>
            <a:pPr algn="ctr">
              <a:lnSpc>
                <a:spcPts val="3696"/>
              </a:lnSpc>
            </a:pPr>
            <a:r>
              <a:rPr lang="en-US" sz="2100">
                <a:solidFill>
                  <a:srgbClr val="000000"/>
                </a:solidFill>
                <a:latin typeface="Inter"/>
                <a:ea typeface="Inter"/>
                <a:cs typeface="Inter"/>
                <a:sym typeface="Inter"/>
              </a:rPr>
              <a:t>T</a:t>
            </a:r>
            <a:r>
              <a:rPr lang="en-US" sz="2100">
                <a:solidFill>
                  <a:srgbClr val="000000"/>
                </a:solidFill>
                <a:latin typeface="Inter"/>
                <a:ea typeface="Inter"/>
                <a:cs typeface="Inter"/>
                <a:sym typeface="Inter"/>
              </a:rPr>
              <a:t>rain each model on local client data.</a:t>
            </a:r>
          </a:p>
        </p:txBody>
      </p:sp>
      <p:sp>
        <p:nvSpPr>
          <p:cNvPr name="TextBox 45" id="45"/>
          <p:cNvSpPr txBox="true"/>
          <p:nvPr/>
        </p:nvSpPr>
        <p:spPr>
          <a:xfrm rot="0">
            <a:off x="8418002" y="7340951"/>
            <a:ext cx="4410186" cy="898398"/>
          </a:xfrm>
          <a:prstGeom prst="rect">
            <a:avLst/>
          </a:prstGeom>
        </p:spPr>
        <p:txBody>
          <a:bodyPr anchor="t" rtlCol="false" tIns="0" lIns="0" bIns="0" rIns="0">
            <a:spAutoFit/>
          </a:bodyPr>
          <a:lstStyle/>
          <a:p>
            <a:pPr algn="ctr">
              <a:lnSpc>
                <a:spcPts val="3696"/>
              </a:lnSpc>
            </a:pPr>
            <a:r>
              <a:rPr lang="en-US" sz="2100">
                <a:solidFill>
                  <a:srgbClr val="000000"/>
                </a:solidFill>
                <a:latin typeface="Inter"/>
                <a:ea typeface="Inter"/>
                <a:cs typeface="Inter"/>
                <a:sym typeface="Inter"/>
              </a:rPr>
              <a:t>Comb</a:t>
            </a:r>
            <a:r>
              <a:rPr lang="en-US" sz="2100">
                <a:solidFill>
                  <a:srgbClr val="000000"/>
                </a:solidFill>
                <a:latin typeface="Inter"/>
                <a:ea typeface="Inter"/>
                <a:cs typeface="Inter"/>
                <a:sym typeface="Inter"/>
              </a:rPr>
              <a:t>ine client updates into a global model.</a:t>
            </a:r>
          </a:p>
        </p:txBody>
      </p:sp>
    </p:spTree>
  </p:cSld>
  <p:clrMapOvr>
    <a:masterClrMapping/>
  </p:clrMapOvr>
</p:sld>
</file>

<file path=ppt/slides/slide6.xml><?xml version="1.0" encoding="utf-8"?>
<p:sld xmlns:p="http://schemas.openxmlformats.org/presentationml/2006/main" xmlns:a="http://schemas.openxmlformats.org/drawingml/2006/main">
  <p:cSld>
    <p:bg>
      <p:bgPr>
        <a:solidFill>
          <a:srgbClr val="F5F5F5"/>
        </a:solidFill>
      </p:bgPr>
    </p:bg>
    <p:spTree>
      <p:nvGrpSpPr>
        <p:cNvPr id="1" name=""/>
        <p:cNvGrpSpPr/>
        <p:nvPr/>
      </p:nvGrpSpPr>
      <p:grpSpPr>
        <a:xfrm>
          <a:off x="0" y="0"/>
          <a:ext cx="0" cy="0"/>
          <a:chOff x="0" y="0"/>
          <a:chExt cx="0" cy="0"/>
        </a:xfrm>
      </p:grpSpPr>
      <p:sp>
        <p:nvSpPr>
          <p:cNvPr name="TextBox 2" id="2"/>
          <p:cNvSpPr txBox="true"/>
          <p:nvPr/>
        </p:nvSpPr>
        <p:spPr>
          <a:xfrm rot="0">
            <a:off x="920187" y="2058985"/>
            <a:ext cx="14210674" cy="2042792"/>
          </a:xfrm>
          <a:prstGeom prst="rect">
            <a:avLst/>
          </a:prstGeom>
        </p:spPr>
        <p:txBody>
          <a:bodyPr anchor="t" rtlCol="false" tIns="0" lIns="0" bIns="0" rIns="0">
            <a:spAutoFit/>
          </a:bodyPr>
          <a:lstStyle/>
          <a:p>
            <a:pPr algn="l">
              <a:lnSpc>
                <a:spcPts val="7839"/>
              </a:lnSpc>
            </a:pPr>
            <a:r>
              <a:rPr lang="en-US" sz="7999" b="true">
                <a:solidFill>
                  <a:srgbClr val="000000"/>
                </a:solidFill>
                <a:latin typeface="TT Hoves Bold"/>
                <a:ea typeface="TT Hoves Bold"/>
                <a:cs typeface="TT Hoves Bold"/>
                <a:sym typeface="TT Hoves Bold"/>
              </a:rPr>
              <a:t>F</a:t>
            </a:r>
            <a:r>
              <a:rPr lang="en-US" b="true" sz="7999">
                <a:solidFill>
                  <a:srgbClr val="000000"/>
                </a:solidFill>
                <a:latin typeface="TT Hoves Bold"/>
                <a:ea typeface="TT Hoves Bold"/>
                <a:cs typeface="TT Hoves Bold"/>
                <a:sym typeface="TT Hoves Bold"/>
              </a:rPr>
              <a:t>EDERATED TRAINING: COMMUNICATION ROUNDS</a:t>
            </a:r>
          </a:p>
        </p:txBody>
      </p:sp>
      <p:sp>
        <p:nvSpPr>
          <p:cNvPr name="TextBox 3" id="3"/>
          <p:cNvSpPr txBox="true"/>
          <p:nvPr/>
        </p:nvSpPr>
        <p:spPr>
          <a:xfrm rot="0">
            <a:off x="1028700" y="4440235"/>
            <a:ext cx="14518742" cy="4165473"/>
          </a:xfrm>
          <a:prstGeom prst="rect">
            <a:avLst/>
          </a:prstGeom>
        </p:spPr>
        <p:txBody>
          <a:bodyPr anchor="t" rtlCol="false" tIns="0" lIns="0" bIns="0" rIns="0">
            <a:spAutoFit/>
          </a:bodyPr>
          <a:lstStyle/>
          <a:p>
            <a:pPr algn="just" marL="0" indent="0" lvl="0">
              <a:lnSpc>
                <a:spcPts val="3696"/>
              </a:lnSpc>
            </a:pPr>
            <a:r>
              <a:rPr lang="en-US" b="true" sz="2100">
                <a:solidFill>
                  <a:srgbClr val="000000"/>
                </a:solidFill>
                <a:latin typeface="Inter Bold"/>
                <a:ea typeface="Inter Bold"/>
                <a:cs typeface="Inter Bold"/>
                <a:sym typeface="Inter Bold"/>
              </a:rPr>
              <a:t>On</a:t>
            </a:r>
            <a:r>
              <a:rPr lang="en-US" b="true" sz="2100">
                <a:solidFill>
                  <a:srgbClr val="000000"/>
                </a:solidFill>
                <a:latin typeface="Inter Bold"/>
                <a:ea typeface="Inter Bold"/>
                <a:cs typeface="Inter Bold"/>
                <a:sym typeface="Inter Bold"/>
              </a:rPr>
              <a:t>e Complete Communication Round</a:t>
            </a:r>
          </a:p>
          <a:p>
            <a:pPr algn="just" marL="0" indent="0" lvl="0">
              <a:lnSpc>
                <a:spcPts val="3696"/>
              </a:lnSpc>
            </a:pPr>
            <a:r>
              <a:rPr lang="en-US" sz="2100">
                <a:solidFill>
                  <a:srgbClr val="000000"/>
                </a:solidFill>
                <a:latin typeface="Inter"/>
                <a:ea typeface="Inter"/>
                <a:cs typeface="Inter"/>
                <a:sym typeface="Inter"/>
              </a:rPr>
              <a:t>The global model is distributed to the 3 clients. Each client performs local training for 1 epoch using its local data and sends the updated model parameters to the server. The server combines these updates using weighted FedAvg to create the next global model, which is then evaluated. </a:t>
            </a:r>
          </a:p>
          <a:p>
            <a:pPr algn="just" marL="0" indent="0" lvl="0">
              <a:lnSpc>
                <a:spcPts val="3696"/>
              </a:lnSpc>
            </a:pPr>
            <a:r>
              <a:rPr lang="en-US" b="true" sz="2100">
                <a:solidFill>
                  <a:srgbClr val="000000"/>
                </a:solidFill>
                <a:latin typeface="Inter Bold"/>
                <a:ea typeface="Inter Bold"/>
                <a:cs typeface="Inter Bold"/>
                <a:sym typeface="Inter Bold"/>
              </a:rPr>
              <a:t>Why Repeat the Rounds?</a:t>
            </a:r>
          </a:p>
          <a:p>
            <a:pPr algn="just" marL="0" indent="0" lvl="0">
              <a:lnSpc>
                <a:spcPts val="3696"/>
              </a:lnSpc>
            </a:pPr>
            <a:r>
              <a:rPr lang="en-US" sz="2100">
                <a:solidFill>
                  <a:srgbClr val="000000"/>
                </a:solidFill>
                <a:latin typeface="Inter"/>
                <a:ea typeface="Inter"/>
                <a:cs typeface="Inter"/>
                <a:sym typeface="Inter"/>
              </a:rPr>
              <a:t>Each communication round combines the learning from all clients into the global model. Repeating the cycle allows the model to learn progressively, with performance generally improving during the early rounds before reaching a high-performance plateau. </a:t>
            </a:r>
          </a:p>
          <a:p>
            <a:pPr algn="just">
              <a:lnSpc>
                <a:spcPts val="3696"/>
              </a:lnSpc>
            </a:pPr>
          </a:p>
        </p:txBody>
      </p:sp>
      <p:sp>
        <p:nvSpPr>
          <p:cNvPr name="TextBox 4" id="4"/>
          <p:cNvSpPr txBox="true"/>
          <p:nvPr/>
        </p:nvSpPr>
        <p:spPr>
          <a:xfrm rot="0">
            <a:off x="15027880" y="1202837"/>
            <a:ext cx="2231420" cy="291539"/>
          </a:xfrm>
          <a:prstGeom prst="rect">
            <a:avLst/>
          </a:prstGeom>
        </p:spPr>
        <p:txBody>
          <a:bodyPr anchor="t" rtlCol="false" tIns="0" lIns="0" bIns="0" rIns="0">
            <a:spAutoFit/>
          </a:bodyPr>
          <a:lstStyle/>
          <a:p>
            <a:pPr algn="r" marL="0" indent="0" lvl="0">
              <a:lnSpc>
                <a:spcPts val="2100"/>
              </a:lnSpc>
              <a:spcBef>
                <a:spcPct val="0"/>
              </a:spcBef>
            </a:pPr>
            <a:r>
              <a:rPr lang="en-US" b="true" sz="2100" strike="noStrike" u="none">
                <a:solidFill>
                  <a:srgbClr val="000000"/>
                </a:solidFill>
                <a:latin typeface="Inter Bold"/>
                <a:ea typeface="Inter Bold"/>
                <a:cs typeface="Inter Bold"/>
                <a:sym typeface="Inter Bold"/>
              </a:rPr>
              <a:t>Project 2026</a:t>
            </a:r>
          </a:p>
        </p:txBody>
      </p:sp>
    </p:spTree>
  </p:cSld>
  <p:clrMapOvr>
    <a:masterClrMapping/>
  </p:clrMapOvr>
</p:sld>
</file>

<file path=ppt/slides/slide7.xml><?xml version="1.0" encoding="utf-8"?>
<p:sld xmlns:p="http://schemas.openxmlformats.org/presentationml/2006/main" xmlns:a="http://schemas.openxmlformats.org/drawingml/2006/main">
  <p:cSld>
    <p:bg>
      <p:bgPr>
        <a:solidFill>
          <a:srgbClr val="F5F5F5"/>
        </a:solidFill>
      </p:bgPr>
    </p:bg>
    <p:spTree>
      <p:nvGrpSpPr>
        <p:cNvPr id="1" name=""/>
        <p:cNvGrpSpPr/>
        <p:nvPr/>
      </p:nvGrpSpPr>
      <p:grpSpPr>
        <a:xfrm>
          <a:off x="0" y="0"/>
          <a:ext cx="0" cy="0"/>
          <a:chOff x="0" y="0"/>
          <a:chExt cx="0" cy="0"/>
        </a:xfrm>
      </p:grpSpPr>
      <p:sp>
        <p:nvSpPr>
          <p:cNvPr name="TextBox 2" id="2"/>
          <p:cNvSpPr txBox="true"/>
          <p:nvPr/>
        </p:nvSpPr>
        <p:spPr>
          <a:xfrm rot="0">
            <a:off x="1006997" y="1646380"/>
            <a:ext cx="14840050" cy="1052192"/>
          </a:xfrm>
          <a:prstGeom prst="rect">
            <a:avLst/>
          </a:prstGeom>
        </p:spPr>
        <p:txBody>
          <a:bodyPr anchor="t" rtlCol="false" tIns="0" lIns="0" bIns="0" rIns="0">
            <a:spAutoFit/>
          </a:bodyPr>
          <a:lstStyle/>
          <a:p>
            <a:pPr algn="l">
              <a:lnSpc>
                <a:spcPts val="7839"/>
              </a:lnSpc>
            </a:pPr>
            <a:r>
              <a:rPr lang="en-US" sz="7999" b="true">
                <a:solidFill>
                  <a:srgbClr val="000000"/>
                </a:solidFill>
                <a:latin typeface="TT Hoves Bold"/>
                <a:ea typeface="TT Hoves Bold"/>
                <a:cs typeface="TT Hoves Bold"/>
                <a:sym typeface="TT Hoves Bold"/>
              </a:rPr>
              <a:t>EV</a:t>
            </a:r>
            <a:r>
              <a:rPr lang="en-US" b="true" sz="7999">
                <a:solidFill>
                  <a:srgbClr val="000000"/>
                </a:solidFill>
                <a:latin typeface="TT Hoves Bold"/>
                <a:ea typeface="TT Hoves Bold"/>
                <a:cs typeface="TT Hoves Bold"/>
                <a:sym typeface="TT Hoves Bold"/>
              </a:rPr>
              <a:t>ALUATION METHODOLOGY</a:t>
            </a:r>
          </a:p>
        </p:txBody>
      </p:sp>
      <p:sp>
        <p:nvSpPr>
          <p:cNvPr name="TextBox 3" id="3"/>
          <p:cNvSpPr txBox="true"/>
          <p:nvPr/>
        </p:nvSpPr>
        <p:spPr>
          <a:xfrm rot="0">
            <a:off x="1028700" y="2844927"/>
            <a:ext cx="10268968" cy="2298573"/>
          </a:xfrm>
          <a:prstGeom prst="rect">
            <a:avLst/>
          </a:prstGeom>
        </p:spPr>
        <p:txBody>
          <a:bodyPr anchor="t" rtlCol="false" tIns="0" lIns="0" bIns="0" rIns="0">
            <a:spAutoFit/>
          </a:bodyPr>
          <a:lstStyle/>
          <a:p>
            <a:pPr algn="just">
              <a:lnSpc>
                <a:spcPts val="3696"/>
              </a:lnSpc>
            </a:pPr>
            <a:r>
              <a:rPr lang="en-US" sz="2100">
                <a:solidFill>
                  <a:srgbClr val="000000"/>
                </a:solidFill>
                <a:latin typeface="Inter"/>
                <a:ea typeface="Inter"/>
                <a:cs typeface="Inter"/>
                <a:sym typeface="Inter"/>
              </a:rPr>
              <a:t>Aft</a:t>
            </a:r>
            <a:r>
              <a:rPr lang="en-US" sz="2100">
                <a:solidFill>
                  <a:srgbClr val="000000"/>
                </a:solidFill>
                <a:latin typeface="Inter"/>
                <a:ea typeface="Inter"/>
                <a:cs typeface="Inter"/>
                <a:sym typeface="Inter"/>
              </a:rPr>
              <a:t>er each communication round, the global model was evaluated on the validation dataset. Its performance was measured using Accuracy and weighted F1-score. These metrics were recorded for all 30 communication rounds and used to compare the performance of the three CNN models across the four crop datasets.</a:t>
            </a:r>
          </a:p>
        </p:txBody>
      </p:sp>
      <p:sp>
        <p:nvSpPr>
          <p:cNvPr name="TextBox 4" id="4"/>
          <p:cNvSpPr txBox="true"/>
          <p:nvPr/>
        </p:nvSpPr>
        <p:spPr>
          <a:xfrm rot="0">
            <a:off x="15027880" y="1202837"/>
            <a:ext cx="2231420" cy="291539"/>
          </a:xfrm>
          <a:prstGeom prst="rect">
            <a:avLst/>
          </a:prstGeom>
        </p:spPr>
        <p:txBody>
          <a:bodyPr anchor="t" rtlCol="false" tIns="0" lIns="0" bIns="0" rIns="0">
            <a:spAutoFit/>
          </a:bodyPr>
          <a:lstStyle/>
          <a:p>
            <a:pPr algn="r" marL="0" indent="0" lvl="0">
              <a:lnSpc>
                <a:spcPts val="2100"/>
              </a:lnSpc>
              <a:spcBef>
                <a:spcPct val="0"/>
              </a:spcBef>
            </a:pPr>
            <a:r>
              <a:rPr lang="en-US" b="true" sz="2100" strike="noStrike" u="none">
                <a:solidFill>
                  <a:srgbClr val="000000"/>
                </a:solidFill>
                <a:latin typeface="Inter Bold"/>
                <a:ea typeface="Inter Bold"/>
                <a:cs typeface="Inter Bold"/>
                <a:sym typeface="Inter Bold"/>
              </a:rPr>
              <a:t>Project 2026</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5F5F5"/>
        </a:solidFill>
      </p:bgPr>
    </p:bg>
    <p:spTree>
      <p:nvGrpSpPr>
        <p:cNvPr id="1" name=""/>
        <p:cNvGrpSpPr/>
        <p:nvPr/>
      </p:nvGrpSpPr>
      <p:grpSpPr>
        <a:xfrm>
          <a:off x="0" y="0"/>
          <a:ext cx="0" cy="0"/>
          <a:chOff x="0" y="0"/>
          <a:chExt cx="0" cy="0"/>
        </a:xfrm>
      </p:grpSpPr>
      <p:sp>
        <p:nvSpPr>
          <p:cNvPr name="Freeform 2" id="2"/>
          <p:cNvSpPr/>
          <p:nvPr/>
        </p:nvSpPr>
        <p:spPr>
          <a:xfrm flipH="false" flipV="false" rot="0">
            <a:off x="2722119" y="2242821"/>
            <a:ext cx="11078244" cy="7432115"/>
          </a:xfrm>
          <a:custGeom>
            <a:avLst/>
            <a:gdLst/>
            <a:ahLst/>
            <a:cxnLst/>
            <a:rect r="r" b="b" t="t" l="l"/>
            <a:pathLst>
              <a:path h="7432115" w="11078244">
                <a:moveTo>
                  <a:pt x="0" y="0"/>
                </a:moveTo>
                <a:lnTo>
                  <a:pt x="11078244" y="0"/>
                </a:lnTo>
                <a:lnTo>
                  <a:pt x="11078244" y="7432115"/>
                </a:lnTo>
                <a:lnTo>
                  <a:pt x="0" y="7432115"/>
                </a:lnTo>
                <a:lnTo>
                  <a:pt x="0" y="0"/>
                </a:lnTo>
                <a:close/>
              </a:path>
            </a:pathLst>
          </a:custGeom>
          <a:blipFill>
            <a:blip r:embed="rId2"/>
            <a:stretch>
              <a:fillRect l="-679" t="0" r="-679" b="0"/>
            </a:stretch>
          </a:blipFill>
        </p:spPr>
      </p:sp>
      <p:sp>
        <p:nvSpPr>
          <p:cNvPr name="TextBox 3" id="3"/>
          <p:cNvSpPr txBox="true"/>
          <p:nvPr/>
        </p:nvSpPr>
        <p:spPr>
          <a:xfrm rot="0">
            <a:off x="1028700" y="1190625"/>
            <a:ext cx="13955551" cy="1052196"/>
          </a:xfrm>
          <a:prstGeom prst="rect">
            <a:avLst/>
          </a:prstGeom>
        </p:spPr>
        <p:txBody>
          <a:bodyPr anchor="t" rtlCol="false" tIns="0" lIns="0" bIns="0" rIns="0">
            <a:spAutoFit/>
          </a:bodyPr>
          <a:lstStyle/>
          <a:p>
            <a:pPr algn="l">
              <a:lnSpc>
                <a:spcPts val="7840"/>
              </a:lnSpc>
            </a:pPr>
            <a:r>
              <a:rPr lang="en-US" sz="8000" b="true">
                <a:solidFill>
                  <a:srgbClr val="000000"/>
                </a:solidFill>
                <a:latin typeface="TT Hoves Bold"/>
                <a:ea typeface="TT Hoves Bold"/>
                <a:cs typeface="TT Hoves Bold"/>
                <a:sym typeface="TT Hoves Bold"/>
              </a:rPr>
              <a:t>IMPLEMEN</a:t>
            </a:r>
            <a:r>
              <a:rPr lang="en-US" b="true" sz="8000">
                <a:solidFill>
                  <a:srgbClr val="000000"/>
                </a:solidFill>
                <a:latin typeface="TT Hoves Bold"/>
                <a:ea typeface="TT Hoves Bold"/>
                <a:cs typeface="TT Hoves Bold"/>
                <a:sym typeface="TT Hoves Bold"/>
              </a:rPr>
              <a:t>TATION RESULTS</a:t>
            </a:r>
          </a:p>
        </p:txBody>
      </p:sp>
      <p:sp>
        <p:nvSpPr>
          <p:cNvPr name="TextBox 4" id="4"/>
          <p:cNvSpPr txBox="true"/>
          <p:nvPr/>
        </p:nvSpPr>
        <p:spPr>
          <a:xfrm rot="0">
            <a:off x="15027880" y="1202837"/>
            <a:ext cx="2231420" cy="291465"/>
          </a:xfrm>
          <a:prstGeom prst="rect">
            <a:avLst/>
          </a:prstGeom>
        </p:spPr>
        <p:txBody>
          <a:bodyPr anchor="t" rtlCol="false" tIns="0" lIns="0" bIns="0" rIns="0">
            <a:spAutoFit/>
          </a:bodyPr>
          <a:lstStyle/>
          <a:p>
            <a:pPr algn="r" marL="0" indent="0" lvl="0">
              <a:lnSpc>
                <a:spcPts val="2100"/>
              </a:lnSpc>
              <a:spcBef>
                <a:spcPct val="0"/>
              </a:spcBef>
            </a:pPr>
            <a:r>
              <a:rPr lang="en-US" b="true" sz="2100" strike="noStrike" u="none">
                <a:solidFill>
                  <a:srgbClr val="000000"/>
                </a:solidFill>
                <a:latin typeface="Inter Bold"/>
                <a:ea typeface="Inter Bold"/>
                <a:cs typeface="Inter Bold"/>
                <a:sym typeface="Inter Bold"/>
              </a:rPr>
              <a:t>Project 2026</a:t>
            </a:r>
          </a:p>
        </p:txBody>
      </p:sp>
    </p:spTree>
  </p:cSld>
  <p:clrMapOvr>
    <a:masterClrMapping/>
  </p:clrMapOvr>
</p:sld>
</file>

<file path=ppt/slides/slide9.xml><?xml version="1.0" encoding="utf-8"?>
<p:sld xmlns:p="http://schemas.openxmlformats.org/presentationml/2006/main" xmlns:a="http://schemas.openxmlformats.org/drawingml/2006/main">
  <p:cSld>
    <p:bg>
      <p:bgPr>
        <a:solidFill>
          <a:srgbClr val="F5F5F5"/>
        </a:solidFill>
      </p:bgPr>
    </p:bg>
    <p:spTree>
      <p:nvGrpSpPr>
        <p:cNvPr id="1" name=""/>
        <p:cNvGrpSpPr/>
        <p:nvPr/>
      </p:nvGrpSpPr>
      <p:grpSpPr>
        <a:xfrm>
          <a:off x="0" y="0"/>
          <a:ext cx="0" cy="0"/>
          <a:chOff x="0" y="0"/>
          <a:chExt cx="0" cy="0"/>
        </a:xfrm>
      </p:grpSpPr>
      <p:sp>
        <p:nvSpPr>
          <p:cNvPr name="TextBox 2" id="2"/>
          <p:cNvSpPr txBox="true"/>
          <p:nvPr/>
        </p:nvSpPr>
        <p:spPr>
          <a:xfrm rot="0">
            <a:off x="1221472" y="1656301"/>
            <a:ext cx="6881866" cy="1052196"/>
          </a:xfrm>
          <a:prstGeom prst="rect">
            <a:avLst/>
          </a:prstGeom>
        </p:spPr>
        <p:txBody>
          <a:bodyPr anchor="t" rtlCol="false" tIns="0" lIns="0" bIns="0" rIns="0">
            <a:spAutoFit/>
          </a:bodyPr>
          <a:lstStyle/>
          <a:p>
            <a:pPr algn="ctr">
              <a:lnSpc>
                <a:spcPts val="7840"/>
              </a:lnSpc>
            </a:pPr>
            <a:r>
              <a:rPr lang="en-US" b="true" sz="8000">
                <a:solidFill>
                  <a:srgbClr val="000000"/>
                </a:solidFill>
                <a:latin typeface="TT Hoves Bold"/>
                <a:ea typeface="TT Hoves Bold"/>
                <a:cs typeface="TT Hoves Bold"/>
                <a:sym typeface="TT Hoves Bold"/>
              </a:rPr>
              <a:t>CO</a:t>
            </a:r>
            <a:r>
              <a:rPr lang="en-US" b="true" sz="8000">
                <a:solidFill>
                  <a:srgbClr val="000000"/>
                </a:solidFill>
                <a:latin typeface="TT Hoves Bold"/>
                <a:ea typeface="TT Hoves Bold"/>
                <a:cs typeface="TT Hoves Bold"/>
                <a:sym typeface="TT Hoves Bold"/>
              </a:rPr>
              <a:t>NCL</a:t>
            </a:r>
            <a:r>
              <a:rPr lang="en-US" b="true" sz="8000">
                <a:solidFill>
                  <a:srgbClr val="000000"/>
                </a:solidFill>
                <a:latin typeface="TT Hoves Bold"/>
                <a:ea typeface="TT Hoves Bold"/>
                <a:cs typeface="TT Hoves Bold"/>
                <a:sym typeface="TT Hoves Bold"/>
              </a:rPr>
              <a:t>USION</a:t>
            </a:r>
          </a:p>
        </p:txBody>
      </p:sp>
      <p:sp>
        <p:nvSpPr>
          <p:cNvPr name="TextBox 3" id="3"/>
          <p:cNvSpPr txBox="true"/>
          <p:nvPr/>
        </p:nvSpPr>
        <p:spPr>
          <a:xfrm rot="0">
            <a:off x="15027880" y="1202837"/>
            <a:ext cx="2231420" cy="291539"/>
          </a:xfrm>
          <a:prstGeom prst="rect">
            <a:avLst/>
          </a:prstGeom>
        </p:spPr>
        <p:txBody>
          <a:bodyPr anchor="t" rtlCol="false" tIns="0" lIns="0" bIns="0" rIns="0">
            <a:spAutoFit/>
          </a:bodyPr>
          <a:lstStyle/>
          <a:p>
            <a:pPr algn="r" marL="0" indent="0" lvl="0">
              <a:lnSpc>
                <a:spcPts val="2100"/>
              </a:lnSpc>
              <a:spcBef>
                <a:spcPct val="0"/>
              </a:spcBef>
            </a:pPr>
            <a:r>
              <a:rPr lang="en-US" b="true" sz="2100" strike="noStrike" u="none">
                <a:solidFill>
                  <a:srgbClr val="000000"/>
                </a:solidFill>
                <a:latin typeface="Inter Bold"/>
                <a:ea typeface="Inter Bold"/>
                <a:cs typeface="Inter Bold"/>
                <a:sym typeface="Inter Bold"/>
              </a:rPr>
              <a:t>Project 2026</a:t>
            </a:r>
          </a:p>
        </p:txBody>
      </p:sp>
      <p:sp>
        <p:nvSpPr>
          <p:cNvPr name="TextBox 4" id="4"/>
          <p:cNvSpPr txBox="true"/>
          <p:nvPr/>
        </p:nvSpPr>
        <p:spPr>
          <a:xfrm rot="0">
            <a:off x="1221472" y="3424453"/>
            <a:ext cx="16599761" cy="3337560"/>
          </a:xfrm>
          <a:prstGeom prst="rect">
            <a:avLst/>
          </a:prstGeom>
        </p:spPr>
        <p:txBody>
          <a:bodyPr anchor="t" rtlCol="false" tIns="0" lIns="0" bIns="0" rIns="0">
            <a:spAutoFit/>
          </a:bodyPr>
          <a:lstStyle/>
          <a:p>
            <a:pPr algn="l" marL="453390" indent="-226695" lvl="1">
              <a:lnSpc>
                <a:spcPts val="2940"/>
              </a:lnSpc>
              <a:buFont typeface="Arial"/>
              <a:buChar char="•"/>
            </a:pPr>
            <a:r>
              <a:rPr lang="en-US" sz="2100">
                <a:solidFill>
                  <a:srgbClr val="000000"/>
                </a:solidFill>
                <a:latin typeface="Inter"/>
                <a:ea typeface="Inter"/>
                <a:cs typeface="Inter"/>
                <a:sym typeface="Inter"/>
              </a:rPr>
              <a:t>The implemente</a:t>
            </a:r>
            <a:r>
              <a:rPr lang="en-US" sz="2100">
                <a:solidFill>
                  <a:srgbClr val="000000"/>
                </a:solidFill>
                <a:latin typeface="Inter"/>
                <a:ea typeface="Inter"/>
                <a:cs typeface="Inter"/>
                <a:sym typeface="Inter"/>
              </a:rPr>
              <a:t>d system demonstrates that crop disease classification can be performed effectively using Federated Learning without sending the clients’ raw leaf images to the central server.</a:t>
            </a:r>
          </a:p>
          <a:p>
            <a:pPr algn="l" marL="453390" indent="-226695" lvl="1">
              <a:lnSpc>
                <a:spcPts val="2940"/>
              </a:lnSpc>
              <a:buFont typeface="Arial"/>
              <a:buChar char="•"/>
            </a:pPr>
            <a:r>
              <a:rPr lang="en-US" sz="2100">
                <a:solidFill>
                  <a:srgbClr val="000000"/>
                </a:solidFill>
                <a:latin typeface="Inter"/>
                <a:ea typeface="Inter"/>
                <a:cs typeface="Inter"/>
                <a:sym typeface="Inter"/>
              </a:rPr>
              <a:t>The clients train the models locally on their own images and send only the model updates to the server.</a:t>
            </a:r>
          </a:p>
          <a:p>
            <a:pPr algn="l" marL="453390" indent="-226695" lvl="1">
              <a:lnSpc>
                <a:spcPts val="2940"/>
              </a:lnSpc>
              <a:buFont typeface="Arial"/>
              <a:buChar char="•"/>
            </a:pPr>
            <a:r>
              <a:rPr lang="en-US" sz="2100">
                <a:solidFill>
                  <a:srgbClr val="000000"/>
                </a:solidFill>
                <a:latin typeface="Inter"/>
                <a:ea typeface="Inter"/>
                <a:cs typeface="Inter"/>
                <a:sym typeface="Inter"/>
              </a:rPr>
              <a:t>The server uses FedAvg to aggregate these updates and creates an improved global model.</a:t>
            </a:r>
          </a:p>
          <a:p>
            <a:pPr algn="l" marL="453390" indent="-226695" lvl="1">
              <a:lnSpc>
                <a:spcPts val="2940"/>
              </a:lnSpc>
              <a:buFont typeface="Arial"/>
              <a:buChar char="•"/>
            </a:pPr>
            <a:r>
              <a:rPr lang="en-US" sz="2100">
                <a:solidFill>
                  <a:srgbClr val="000000"/>
                </a:solidFill>
                <a:latin typeface="Inter"/>
                <a:ea typeface="Inter"/>
                <a:cs typeface="Inter"/>
                <a:sym typeface="Inter"/>
              </a:rPr>
              <a:t>After 30 communication rounds, the models achieved very high validation performance, reaching approximately 97–100% Accuracy across the four crop datasets.</a:t>
            </a:r>
          </a:p>
          <a:p>
            <a:pPr algn="l" marL="453390" indent="-226695" lvl="1">
              <a:lnSpc>
                <a:spcPts val="2940"/>
              </a:lnSpc>
              <a:buFont typeface="Arial"/>
              <a:buChar char="•"/>
            </a:pPr>
            <a:r>
              <a:rPr lang="en-US" sz="2100">
                <a:solidFill>
                  <a:srgbClr val="000000"/>
                </a:solidFill>
                <a:latin typeface="Inter"/>
                <a:ea typeface="Inter"/>
                <a:cs typeface="Inter"/>
                <a:sym typeface="Inter"/>
              </a:rPr>
              <a:t>ResNet50 achieved the best overall performance with 99.23% mean final validation Accuracy.</a:t>
            </a:r>
          </a:p>
          <a:p>
            <a:pPr algn="l" marL="453390" indent="-226695" lvl="1">
              <a:lnSpc>
                <a:spcPts val="2940"/>
              </a:lnSpc>
              <a:buFont typeface="Arial"/>
              <a:buChar char="•"/>
            </a:pPr>
            <a:r>
              <a:rPr lang="en-US" sz="2100">
                <a:solidFill>
                  <a:srgbClr val="000000"/>
                </a:solidFill>
                <a:latin typeface="Inter"/>
                <a:ea typeface="Inter"/>
                <a:cs typeface="Inter"/>
                <a:sym typeface="Inter"/>
              </a:rPr>
              <a:t>Therefore, in this experimental setup, the results show that highly accurate crop-disease prediction is possible even when the central server does not directly access the clients’ leaf images.  </a:t>
            </a:r>
          </a:p>
        </p:txBody>
      </p:sp>
    </p:spTree>
  </p:cSld>
  <p:clrMapOvr>
    <a:masterClrMapping/>
  </p:clrMapOvr>
</p:sld>
</file>

<file path=ppt/slides/slide10.xml><?xml version="1.0" encoding="utf-8"?>
<p:sld xmlns:p="http://schemas.openxmlformats.org/presentationml/2006/main" xmlns:a="http://schemas.openxmlformats.org/drawingml/2006/main">
  <p:cSld>
    <p:bg>
      <p:bgPr>
        <a:solidFill>
          <a:srgbClr val="F5F5F5"/>
        </a:solidFill>
      </p:bgPr>
    </p:bg>
    <p:spTree>
      <p:nvGrpSpPr>
        <p:cNvPr id="1" name=""/>
        <p:cNvGrpSpPr/>
        <p:nvPr/>
      </p:nvGrpSpPr>
      <p:grpSpPr>
        <a:xfrm>
          <a:off x="0" y="0"/>
          <a:ext cx="0" cy="0"/>
          <a:chOff x="0" y="0"/>
          <a:chExt cx="0" cy="0"/>
        </a:xfrm>
      </p:grpSpPr>
      <p:sp>
        <p:nvSpPr>
          <p:cNvPr name="TextBox 2" id="2"/>
          <p:cNvSpPr txBox="true"/>
          <p:nvPr/>
        </p:nvSpPr>
        <p:spPr>
          <a:xfrm rot="0">
            <a:off x="1090693" y="1656301"/>
            <a:ext cx="14858447" cy="1052196"/>
          </a:xfrm>
          <a:prstGeom prst="rect">
            <a:avLst/>
          </a:prstGeom>
        </p:spPr>
        <p:txBody>
          <a:bodyPr anchor="t" rtlCol="false" tIns="0" lIns="0" bIns="0" rIns="0">
            <a:spAutoFit/>
          </a:bodyPr>
          <a:lstStyle/>
          <a:p>
            <a:pPr algn="l">
              <a:lnSpc>
                <a:spcPts val="7840"/>
              </a:lnSpc>
            </a:pPr>
            <a:r>
              <a:rPr lang="en-US" sz="8000" b="true">
                <a:solidFill>
                  <a:srgbClr val="000000"/>
                </a:solidFill>
                <a:latin typeface="TT Hoves Bold"/>
                <a:ea typeface="TT Hoves Bold"/>
                <a:cs typeface="TT Hoves Bold"/>
                <a:sym typeface="TT Hoves Bold"/>
              </a:rPr>
              <a:t>REFER</a:t>
            </a:r>
            <a:r>
              <a:rPr lang="en-US" b="true" sz="8000">
                <a:solidFill>
                  <a:srgbClr val="000000"/>
                </a:solidFill>
                <a:latin typeface="TT Hoves Bold"/>
                <a:ea typeface="TT Hoves Bold"/>
                <a:cs typeface="TT Hoves Bold"/>
                <a:sym typeface="TT Hoves Bold"/>
              </a:rPr>
              <a:t>EN</a:t>
            </a:r>
            <a:r>
              <a:rPr lang="en-US" b="true" sz="8000">
                <a:solidFill>
                  <a:srgbClr val="000000"/>
                </a:solidFill>
                <a:latin typeface="TT Hoves Bold"/>
                <a:ea typeface="TT Hoves Bold"/>
                <a:cs typeface="TT Hoves Bold"/>
                <a:sym typeface="TT Hoves Bold"/>
              </a:rPr>
              <a:t>CES</a:t>
            </a:r>
          </a:p>
        </p:txBody>
      </p:sp>
      <p:sp>
        <p:nvSpPr>
          <p:cNvPr name="TextBox 3" id="3"/>
          <p:cNvSpPr txBox="true"/>
          <p:nvPr/>
        </p:nvSpPr>
        <p:spPr>
          <a:xfrm rot="0">
            <a:off x="15027880" y="1202837"/>
            <a:ext cx="2231420" cy="291539"/>
          </a:xfrm>
          <a:prstGeom prst="rect">
            <a:avLst/>
          </a:prstGeom>
        </p:spPr>
        <p:txBody>
          <a:bodyPr anchor="t" rtlCol="false" tIns="0" lIns="0" bIns="0" rIns="0">
            <a:spAutoFit/>
          </a:bodyPr>
          <a:lstStyle/>
          <a:p>
            <a:pPr algn="r" marL="0" indent="0" lvl="0">
              <a:lnSpc>
                <a:spcPts val="2100"/>
              </a:lnSpc>
              <a:spcBef>
                <a:spcPct val="0"/>
              </a:spcBef>
            </a:pPr>
            <a:r>
              <a:rPr lang="en-US" b="true" sz="2100" strike="noStrike" u="none">
                <a:solidFill>
                  <a:srgbClr val="000000"/>
                </a:solidFill>
                <a:latin typeface="Inter Bold"/>
                <a:ea typeface="Inter Bold"/>
                <a:cs typeface="Inter Bold"/>
                <a:sym typeface="Inter Bold"/>
              </a:rPr>
              <a:t>Project 2026</a:t>
            </a:r>
          </a:p>
        </p:txBody>
      </p:sp>
      <p:sp>
        <p:nvSpPr>
          <p:cNvPr name="TextBox 4" id="4"/>
          <p:cNvSpPr txBox="true"/>
          <p:nvPr/>
        </p:nvSpPr>
        <p:spPr>
          <a:xfrm rot="0">
            <a:off x="1201420" y="2660872"/>
            <a:ext cx="14636994" cy="6309360"/>
          </a:xfrm>
          <a:prstGeom prst="rect">
            <a:avLst/>
          </a:prstGeom>
        </p:spPr>
        <p:txBody>
          <a:bodyPr anchor="t" rtlCol="false" tIns="0" lIns="0" bIns="0" rIns="0">
            <a:spAutoFit/>
          </a:bodyPr>
          <a:lstStyle/>
          <a:p>
            <a:pPr algn="l">
              <a:lnSpc>
                <a:spcPts val="2940"/>
              </a:lnSpc>
            </a:pPr>
            <a:r>
              <a:rPr lang="en-US" sz="2100">
                <a:solidFill>
                  <a:srgbClr val="000000"/>
                </a:solidFill>
                <a:latin typeface="Inter"/>
                <a:ea typeface="Inter"/>
                <a:cs typeface="Inter"/>
                <a:sym typeface="Inter"/>
              </a:rPr>
              <a:t>Kabala, D. M., et al. (2023). Image-based crop disease detection with federated learning. Scientific Reports, 13, 18448.    DOI: 10.1038/s41598-023-46218-5</a:t>
            </a:r>
          </a:p>
          <a:p>
            <a:pPr algn="l">
              <a:lnSpc>
                <a:spcPts val="2940"/>
              </a:lnSpc>
            </a:pPr>
          </a:p>
          <a:p>
            <a:pPr algn="l">
              <a:lnSpc>
                <a:spcPts val="2940"/>
              </a:lnSpc>
            </a:pPr>
            <a:r>
              <a:rPr lang="en-US" sz="2100">
                <a:solidFill>
                  <a:srgbClr val="000000"/>
                </a:solidFill>
                <a:latin typeface="Inter"/>
                <a:ea typeface="Inter"/>
                <a:cs typeface="Inter"/>
                <a:sym typeface="Inter"/>
              </a:rPr>
              <a:t>Mohanty, S. P., Hughes, D. P., &amp; Salathé, M. (2016). Using Deep Learning for Image-Base</a:t>
            </a:r>
            <a:r>
              <a:rPr lang="en-US" sz="2100">
                <a:solidFill>
                  <a:srgbClr val="000000"/>
                </a:solidFill>
                <a:latin typeface="Inter"/>
                <a:ea typeface="Inter"/>
                <a:cs typeface="Inter"/>
                <a:sym typeface="Inter"/>
              </a:rPr>
              <a:t>d Plant Disease Detection. Frontiers in Plant Science, 7, 1419. Source of the PlantVillage dataset.</a:t>
            </a:r>
          </a:p>
          <a:p>
            <a:pPr algn="l">
              <a:lnSpc>
                <a:spcPts val="2940"/>
              </a:lnSpc>
            </a:pPr>
          </a:p>
          <a:p>
            <a:pPr algn="l">
              <a:lnSpc>
                <a:spcPts val="2940"/>
              </a:lnSpc>
            </a:pPr>
            <a:r>
              <a:rPr lang="en-US" sz="2100">
                <a:solidFill>
                  <a:srgbClr val="000000"/>
                </a:solidFill>
                <a:latin typeface="Inter"/>
                <a:ea typeface="Inter"/>
                <a:cs typeface="Inter"/>
                <a:sym typeface="Inter"/>
              </a:rPr>
              <a:t>McMahan, B., et al. (2017). Communication-Efficient Learning of Deep Networks from Decentralized Data. Proceedings of AISTATS 2017. Foundational work introducing Federated Averaging (FedAvg).</a:t>
            </a:r>
          </a:p>
          <a:p>
            <a:pPr algn="l">
              <a:lnSpc>
                <a:spcPts val="2940"/>
              </a:lnSpc>
            </a:pPr>
          </a:p>
          <a:p>
            <a:pPr algn="l">
              <a:lnSpc>
                <a:spcPts val="2940"/>
              </a:lnSpc>
            </a:pPr>
            <a:r>
              <a:rPr lang="en-US" sz="2100">
                <a:solidFill>
                  <a:srgbClr val="000000"/>
                </a:solidFill>
                <a:latin typeface="Inter"/>
                <a:ea typeface="Inter"/>
                <a:cs typeface="Inter"/>
                <a:sym typeface="Inter"/>
              </a:rPr>
              <a:t>He, K., Zhang, X., Ren, S., &amp; Sun, J. (2016). Deep Residual Learning for Image Recognition. Proceedings of CVPR 2016. Reference for the ResNet architecture.</a:t>
            </a:r>
          </a:p>
          <a:p>
            <a:pPr algn="l">
              <a:lnSpc>
                <a:spcPts val="2940"/>
              </a:lnSpc>
            </a:pPr>
          </a:p>
          <a:p>
            <a:pPr algn="l">
              <a:lnSpc>
                <a:spcPts val="2940"/>
              </a:lnSpc>
            </a:pPr>
            <a:r>
              <a:rPr lang="en-US" sz="2100">
                <a:solidFill>
                  <a:srgbClr val="000000"/>
                </a:solidFill>
                <a:latin typeface="Inter"/>
                <a:ea typeface="Inter"/>
                <a:cs typeface="Inter"/>
                <a:sym typeface="Inter"/>
              </a:rPr>
              <a:t>Simonyan, K., &amp; Zisserman, A. (2015). Very Deep Convolutional Networks for Large-Scale Image Recognition. ICLR 2015. Reference for the VGG16 architecture.</a:t>
            </a:r>
          </a:p>
          <a:p>
            <a:pPr algn="l">
              <a:lnSpc>
                <a:spcPts val="2940"/>
              </a:lnSpc>
            </a:pPr>
          </a:p>
          <a:p>
            <a:pPr algn="l">
              <a:lnSpc>
                <a:spcPts val="2940"/>
              </a:lnSpc>
            </a:pPr>
            <a:r>
              <a:rPr lang="en-US" sz="2100">
                <a:solidFill>
                  <a:srgbClr val="000000"/>
                </a:solidFill>
                <a:latin typeface="Inter"/>
                <a:ea typeface="Inter"/>
                <a:cs typeface="Inter"/>
                <a:sym typeface="Inter"/>
              </a:rPr>
              <a:t>Sandler, M., et al. (2018). MobileNetV2: Inverted Residuals and Linear Bottlenecks. Proceedings of CVPR 2018. Reference for the MobileNetV2 architecture.</a:t>
            </a:r>
          </a:p>
        </p:txBody>
      </p:sp>
      <p:sp>
        <p:nvSpPr>
          <p:cNvPr name="TextBox 5" id="5"/>
          <p:cNvSpPr txBox="true"/>
          <p:nvPr/>
        </p:nvSpPr>
        <p:spPr>
          <a:xfrm rot="0">
            <a:off x="5518031" y="9013690"/>
            <a:ext cx="6003771" cy="1052212"/>
          </a:xfrm>
          <a:prstGeom prst="rect">
            <a:avLst/>
          </a:prstGeom>
        </p:spPr>
        <p:txBody>
          <a:bodyPr anchor="t" rtlCol="false" tIns="0" lIns="0" bIns="0" rIns="0">
            <a:spAutoFit/>
          </a:bodyPr>
          <a:lstStyle/>
          <a:p>
            <a:pPr algn="l">
              <a:lnSpc>
                <a:spcPts val="7840"/>
              </a:lnSpc>
            </a:pPr>
            <a:r>
              <a:rPr lang="en-US" sz="8000" b="true">
                <a:solidFill>
                  <a:srgbClr val="000000"/>
                </a:solidFill>
                <a:latin typeface="TT Hoves Bold"/>
                <a:ea typeface="TT Hoves Bold"/>
                <a:cs typeface="TT Hoves Bold"/>
                <a:sym typeface="TT Hoves Bold"/>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DAHXH-HvVkk</dc:identifier>
  <dcterms:modified xsi:type="dcterms:W3CDTF">2011-08-01T06:04:30Z</dcterms:modified>
  <cp:revision>1</cp:revision>
  <dc:title>Black and White Minimalist Project Proposal Presentation</dc:title>
</cp:coreProperties>
</file>